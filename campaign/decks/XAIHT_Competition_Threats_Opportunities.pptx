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4354df67b043f7" /><Relationship Type="http://schemas.openxmlformats.org/officeDocument/2006/relationships/extended-properties" Target="/docProps/app.xml" Id="R4900cd5fbb904bf0" /><Relationship Type="http://schemas.openxmlformats.org/officeDocument/2006/relationships/officeDocument" Target="/ppt/presentation.xml" Id="R3ef354db8e2b40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a01f31ebc5428e"/>
  </p:sldMasterIdLst>
  <p:notesMasterIdLst>
    <p:notesMasterId xmlns:r="http://schemas.openxmlformats.org/officeDocument/2006/relationships" r:id="R5e99eda101c046b9"/>
  </p:notesMasterIdLst>
  <p:sldIdLst>
    <p:sldId xmlns:r="http://schemas.openxmlformats.org/officeDocument/2006/relationships" id="256" r:id="R2622b554fce74419"/>
    <p:sldId xmlns:r="http://schemas.openxmlformats.org/officeDocument/2006/relationships" id="257" r:id="R0128df95fee34fcf"/>
    <p:sldId xmlns:r="http://schemas.openxmlformats.org/officeDocument/2006/relationships" id="258" r:id="Rfa5ad8873b644f83"/>
    <p:sldId xmlns:r="http://schemas.openxmlformats.org/officeDocument/2006/relationships" id="259" r:id="R35b709ef76c5421d"/>
    <p:sldId xmlns:r="http://schemas.openxmlformats.org/officeDocument/2006/relationships" id="260" r:id="R16464ae665054f06"/>
    <p:sldId xmlns:r="http://schemas.openxmlformats.org/officeDocument/2006/relationships" id="261" r:id="Rd8271e34d3fa4913"/>
    <p:sldId xmlns:r="http://schemas.openxmlformats.org/officeDocument/2006/relationships" id="262" r:id="Rd6e5b9cfca604c7e"/>
    <p:sldId xmlns:r="http://schemas.openxmlformats.org/officeDocument/2006/relationships" id="263" r:id="Rfb5bcc08f75d45dd"/>
    <p:sldId xmlns:r="http://schemas.openxmlformats.org/officeDocument/2006/relationships" id="264" r:id="R1bf6c243b925440f"/>
    <p:sldId xmlns:r="http://schemas.openxmlformats.org/officeDocument/2006/relationships" id="265" r:id="R5a65a51c054b4a9c"/>
    <p:sldId xmlns:r="http://schemas.openxmlformats.org/officeDocument/2006/relationships" id="266" r:id="Rfc308e3311a44543"/>
    <p:sldId xmlns:r="http://schemas.openxmlformats.org/officeDocument/2006/relationships" id="267" r:id="R6a3c279f9a884a93"/>
    <p:sldId xmlns:r="http://schemas.openxmlformats.org/officeDocument/2006/relationships" id="268" r:id="R2d5636c0657847c9"/>
    <p:sldId xmlns:r="http://schemas.openxmlformats.org/officeDocument/2006/relationships" id="269" r:id="Rd5ba7c1d00904915"/>
    <p:sldId xmlns:r="http://schemas.openxmlformats.org/officeDocument/2006/relationships" id="270" r:id="Rbab4dd99eda041f6"/>
    <p:sldId xmlns:r="http://schemas.openxmlformats.org/officeDocument/2006/relationships" id="271" r:id="R8a4223b5067a4ec9"/>
    <p:sldId xmlns:r="http://schemas.openxmlformats.org/officeDocument/2006/relationships" id="272" r:id="R873934426a13428b"/>
    <p:sldId xmlns:r="http://schemas.openxmlformats.org/officeDocument/2006/relationships" id="273" r:id="Rff097170cb6b4e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44902717db48d1" /><Relationship Type="http://schemas.openxmlformats.org/officeDocument/2006/relationships/slideMaster" Target="/ppt/slideMasters/slideMaster1.xml" Id="Rf0a01f31ebc5428e" /><Relationship Type="http://schemas.openxmlformats.org/officeDocument/2006/relationships/notesMaster" Target="/ppt/notesMasters/notesMaster1.xml" Id="R5e99eda101c046b9" /><Relationship Type="http://schemas.openxmlformats.org/officeDocument/2006/relationships/presProps" Target="/ppt/presProps.xml" Id="R574570e4b4d24438" /><Relationship Type="http://schemas.openxmlformats.org/officeDocument/2006/relationships/tableStyles" Target="/ppt/tableStyles.xml" Id="Rcde4e63301154500" /><Relationship Type="http://schemas.openxmlformats.org/officeDocument/2006/relationships/slide" Target="/ppt/slides/slide1.xml" Id="R2622b554fce74419" /><Relationship Type="http://schemas.openxmlformats.org/officeDocument/2006/relationships/slide" Target="/ppt/slides/slide2.xml" Id="R0128df95fee34fcf" /><Relationship Type="http://schemas.openxmlformats.org/officeDocument/2006/relationships/slide" Target="/ppt/slides/slide3.xml" Id="Rfa5ad8873b644f83" /><Relationship Type="http://schemas.openxmlformats.org/officeDocument/2006/relationships/slide" Target="/ppt/slides/slide4.xml" Id="R35b709ef76c5421d" /><Relationship Type="http://schemas.openxmlformats.org/officeDocument/2006/relationships/slide" Target="/ppt/slides/slide5.xml" Id="R16464ae665054f06" /><Relationship Type="http://schemas.openxmlformats.org/officeDocument/2006/relationships/slide" Target="/ppt/slides/slide6.xml" Id="Rd8271e34d3fa4913" /><Relationship Type="http://schemas.openxmlformats.org/officeDocument/2006/relationships/slide" Target="/ppt/slides/slide7.xml" Id="Rd6e5b9cfca604c7e" /><Relationship Type="http://schemas.openxmlformats.org/officeDocument/2006/relationships/slide" Target="/ppt/slides/slide8.xml" Id="Rfb5bcc08f75d45dd" /><Relationship Type="http://schemas.openxmlformats.org/officeDocument/2006/relationships/slide" Target="/ppt/slides/slide9.xml" Id="R1bf6c243b925440f" /><Relationship Type="http://schemas.openxmlformats.org/officeDocument/2006/relationships/slide" Target="/ppt/slides/slide10.xml" Id="R5a65a51c054b4a9c" /><Relationship Type="http://schemas.openxmlformats.org/officeDocument/2006/relationships/slide" Target="/ppt/slides/slide11.xml" Id="Rfc308e3311a44543" /><Relationship Type="http://schemas.openxmlformats.org/officeDocument/2006/relationships/slide" Target="/ppt/slides/slide12.xml" Id="R6a3c279f9a884a93" /><Relationship Type="http://schemas.openxmlformats.org/officeDocument/2006/relationships/slide" Target="/ppt/slides/slide13.xml" Id="R2d5636c0657847c9" /><Relationship Type="http://schemas.openxmlformats.org/officeDocument/2006/relationships/slide" Target="/ppt/slides/slide14.xml" Id="Rd5ba7c1d00904915" /><Relationship Type="http://schemas.openxmlformats.org/officeDocument/2006/relationships/slide" Target="/ppt/slides/slide15.xml" Id="Rbab4dd99eda041f6" /><Relationship Type="http://schemas.openxmlformats.org/officeDocument/2006/relationships/slide" Target="/ppt/slides/slide16.xml" Id="R8a4223b5067a4ec9" /><Relationship Type="http://schemas.openxmlformats.org/officeDocument/2006/relationships/slide" Target="/ppt/slides/slide17.xml" Id="R873934426a13428b" /><Relationship Type="http://schemas.openxmlformats.org/officeDocument/2006/relationships/slide" Target="/ppt/slides/slide18.xml" Id="Rff097170cb6b4e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0c2018aece42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a5588338b645cd" /><Relationship Type="http://schemas.openxmlformats.org/officeDocument/2006/relationships/notesMaster" Target="/ppt/notesMasters/notesMaster1.xml" Id="Ra8e60a1679e643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59fe4560954a3f" /><Relationship Type="http://schemas.openxmlformats.org/officeDocument/2006/relationships/notesMaster" Target="/ppt/notesMasters/notesMaster1.xml" Id="Re33124d5c02f4f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9ea30740434ad1" /><Relationship Type="http://schemas.openxmlformats.org/officeDocument/2006/relationships/notesMaster" Target="/ppt/notesMasters/notesMaster1.xml" Id="Rae46e8464c1144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a6743a5a1a4edd" /><Relationship Type="http://schemas.openxmlformats.org/officeDocument/2006/relationships/notesMaster" Target="/ppt/notesMasters/notesMaster1.xml" Id="R73974fdd70f346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27e2183409454a" /><Relationship Type="http://schemas.openxmlformats.org/officeDocument/2006/relationships/notesMaster" Target="/ppt/notesMasters/notesMaster1.xml" Id="Rd154da4a5c534a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9a8309ba744aaa" /><Relationship Type="http://schemas.openxmlformats.org/officeDocument/2006/relationships/notesMaster" Target="/ppt/notesMasters/notesMaster1.xml" Id="R96eec03805464b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617178574d4d57" /><Relationship Type="http://schemas.openxmlformats.org/officeDocument/2006/relationships/notesMaster" Target="/ppt/notesMasters/notesMaster1.xml" Id="Rede6f347ae0d41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56d7f55f5b44b1" /><Relationship Type="http://schemas.openxmlformats.org/officeDocument/2006/relationships/notesMaster" Target="/ppt/notesMasters/notesMaster1.xml" Id="Rab475fcf850447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ad79de29cc43e0" /><Relationship Type="http://schemas.openxmlformats.org/officeDocument/2006/relationships/notesMaster" Target="/ppt/notesMasters/notesMaster1.xml" Id="R9d35262b18bf47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249101d6344b0d" /><Relationship Type="http://schemas.openxmlformats.org/officeDocument/2006/relationships/notesMaster" Target="/ppt/notesMasters/notesMaster1.xml" Id="R4a2d3c64fa354f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5896edbb5d4e04" /><Relationship Type="http://schemas.openxmlformats.org/officeDocument/2006/relationships/notesMaster" Target="/ppt/notesMasters/notesMaster1.xml" Id="R16e38459f8c042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fc9208a4294045" /><Relationship Type="http://schemas.openxmlformats.org/officeDocument/2006/relationships/notesMaster" Target="/ppt/notesMasters/notesMaster1.xml" Id="Rc2c27be4826046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87ae92bbec4d0c" /><Relationship Type="http://schemas.openxmlformats.org/officeDocument/2006/relationships/notesMaster" Target="/ppt/notesMasters/notesMaster1.xml" Id="R7e1e4347c6384a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ee34650fa64c24" /><Relationship Type="http://schemas.openxmlformats.org/officeDocument/2006/relationships/notesMaster" Target="/ppt/notesMasters/notesMaster1.xml" Id="Re1e976f0c24a49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c137ec87a44733" /><Relationship Type="http://schemas.openxmlformats.org/officeDocument/2006/relationships/notesMaster" Target="/ppt/notesMasters/notesMaster1.xml" Id="R0ff535b2300e48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57e43075244e1a" /><Relationship Type="http://schemas.openxmlformats.org/officeDocument/2006/relationships/notesMaster" Target="/ppt/notesMasters/notesMaster1.xml" Id="Rb1e6e4df3ede403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bbe56e2e8b4cde" /><Relationship Type="http://schemas.openxmlformats.org/officeDocument/2006/relationships/notesMaster" Target="/ppt/notesMasters/notesMaster1.xml" Id="R37a4b80c44954f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b2e79c351f47f6" /><Relationship Type="http://schemas.openxmlformats.org/officeDocument/2006/relationships/notesMaster" Target="/ppt/notesMasters/notesMaster1.xml" Id="Rde43544cf43a48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99e2f70c640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64e43bb3e745a0" /><Relationship Type="http://schemas.openxmlformats.org/officeDocument/2006/relationships/slideLayout" Target="/ppt/slideLayouts/slideLayout1.xml" Id="R4e4f11c7ad5d43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4f11c7ad5d43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834a65d3642bc" /><Relationship Type="http://schemas.openxmlformats.org/officeDocument/2006/relationships/image" Target="/ppt/media/image.png" Id="Re284e91219944295" /><Relationship Type="http://schemas.openxmlformats.org/officeDocument/2006/relationships/image" Target="/ppt/media/image2.png" Id="Rdf704d3377f84c15" /><Relationship Type="http://schemas.openxmlformats.org/officeDocument/2006/relationships/notesSlide" Target="/ppt/notesSlides/notesSlide1.xml" Id="Ra3f2bc3cc200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e6559cc0042db" /><Relationship Type="http://schemas.openxmlformats.org/officeDocument/2006/relationships/notesSlide" Target="/ppt/notesSlides/notesSlide2.xml" Id="Radccd0c4cc2e44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3fbcdb64545be" /><Relationship Type="http://schemas.openxmlformats.org/officeDocument/2006/relationships/notesSlide" Target="/ppt/notesSlides/notesSlide3.xml" Id="R408754dbeb3041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431fec23d40c5" /><Relationship Type="http://schemas.openxmlformats.org/officeDocument/2006/relationships/notesSlide" Target="/ppt/notesSlides/notesSlide4.xml" Id="Rfbffd0caa03148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ec2f7313d481f" /><Relationship Type="http://schemas.openxmlformats.org/officeDocument/2006/relationships/notesSlide" Target="/ppt/notesSlides/notesSlide5.xml" Id="R44d2cdae559345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fea3f5e9f460d" /><Relationship Type="http://schemas.openxmlformats.org/officeDocument/2006/relationships/image" Target="/ppt/media/image3.png" Id="R6368b9c2c02148ef" /><Relationship Type="http://schemas.openxmlformats.org/officeDocument/2006/relationships/notesSlide" Target="/ppt/notesSlides/notesSlide6.xml" Id="Rc337cdb0dd434d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c9511af4b4370" /><Relationship Type="http://schemas.openxmlformats.org/officeDocument/2006/relationships/notesSlide" Target="/ppt/notesSlides/notesSlide7.xml" Id="Ree6fe94d1f4042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d504ac4dc4206" /><Relationship Type="http://schemas.openxmlformats.org/officeDocument/2006/relationships/notesSlide" Target="/ppt/notesSlides/notesSlide8.xml" Id="R0b8e860e0ea14c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9978db205467f" /><Relationship Type="http://schemas.openxmlformats.org/officeDocument/2006/relationships/notesSlide" Target="/ppt/notesSlides/notesSlide9.xml" Id="Rc0ddc3e12d764f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2db1fe38a4e87" /><Relationship Type="http://schemas.openxmlformats.org/officeDocument/2006/relationships/notesSlide" Target="/ppt/notesSlides/notesSlide10.xml" Id="R134a387728df42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5c87fe9ef4ed9" /><Relationship Type="http://schemas.openxmlformats.org/officeDocument/2006/relationships/notesSlide" Target="/ppt/notesSlides/notesSlide11.xml" Id="Raeb1b5e970824a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7f325aabb4e5b" /><Relationship Type="http://schemas.openxmlformats.org/officeDocument/2006/relationships/notesSlide" Target="/ppt/notesSlides/notesSlide12.xml" Id="R6c3c41dfc33b48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1a02d40b841e2" /><Relationship Type="http://schemas.openxmlformats.org/officeDocument/2006/relationships/notesSlide" Target="/ppt/notesSlides/notesSlide13.xml" Id="R6420c310852c44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b89a7df6a44cc" /><Relationship Type="http://schemas.openxmlformats.org/officeDocument/2006/relationships/notesSlide" Target="/ppt/notesSlides/notesSlide14.xml" Id="Rf9b07257620941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a46e0f67540b8" /><Relationship Type="http://schemas.openxmlformats.org/officeDocument/2006/relationships/notesSlide" Target="/ppt/notesSlides/notesSlide15.xml" Id="Rcf18c282ba8d46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389057d31440e" /><Relationship Type="http://schemas.openxmlformats.org/officeDocument/2006/relationships/notesSlide" Target="/ppt/notesSlides/notesSlide16.xml" Id="Rf79d06343520438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989e04c454287" /><Relationship Type="http://schemas.openxmlformats.org/officeDocument/2006/relationships/notesSlide" Target="/ppt/notesSlides/notesSlide17.xml" Id="Rafe957700e134a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9dd09c91d44b3" /><Relationship Type="http://schemas.openxmlformats.org/officeDocument/2006/relationships/image" Target="/ppt/media/image4.png" Id="R7b078716b9dc4d78" /><Relationship Type="http://schemas.openxmlformats.org/officeDocument/2006/relationships/notesSlide" Target="/ppt/notesSlides/notesSlide18.xml" Id="Rdf2e54b0ff7c48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4e9121994429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0E540-E098-4EBA-992B-5328387B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D591C-2BB9-46C8-9EBE-772CF1BE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133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04d3377f84c15"/>
          <a:stretch xmlns:a="http://schemas.openxmlformats.org/drawingml/2006/main"/>
        </p:blipFill>
        <p:spPr>
          <a:xfrm xmlns:a="http://schemas.openxmlformats.org/drawingml/2006/main">
            <a:off x="635454" y="514350"/>
            <a:ext cx="3929743" cy="723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B0E32-5E5C-4A44-AA1F-59B47E87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2F3EE"/>
                </a:solidFill>
              </a:defRPr>
            </a:pPr>
            <a:r>
              <a:rPr sz="3450" b="1">
                <a:solidFill>
                  <a:srgbClr val="F2F3EE"/>
                </a:solidFill>
              </a:rPr>
              <a:t>Win the bridge, not the category war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8FEC8-B0D9-47F1-B2D5-9930C892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D9D5"/>
                </a:solidFill>
              </a:defRPr>
            </a:pPr>
            <a:r>
              <a:rPr sz="1350" b="0">
                <a:solidFill>
                  <a:srgbClr val="D5D9D5"/>
                </a:solidFill>
              </a:rPr>
              <a:t>A strategic assessment of coding agents, automation platforms, agent frameworks, and Tlamatini’s credible wedge.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C359A-E28B-4060-AD8E-35CB8544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293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A84B"/>
                </a:solidFill>
              </a:defRPr>
            </a:pPr>
            <a:r>
              <a:rPr sz="750" b="1">
                <a:solidFill>
                  <a:srgbClr val="D6A84B"/>
                </a:solidFill>
              </a:rPr>
              <a:t>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27724-3BBF-4E01-8B84-73FE838E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293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5A1"/>
                </a:solidFill>
              </a:defRPr>
            </a:pPr>
            <a:r>
              <a:rPr sz="750" b="0">
                <a:solidFill>
                  <a:srgbClr val="9CA5A1"/>
                </a:solidFill>
              </a:rPr>
              <a:t>COMPETITION / THREATS / OPPORTUNITIES</a:t>
            </a:r>
          </a:p>
        </p:txBody>
      </p:sp>
    </p:spTree>
    <p:extLst>
      <p:ext uri="{BB962C8B-B14F-4D97-AF65-F5344CB8AC3E}">
        <p14:creationId xmlns:p14="http://schemas.microsoft.com/office/powerpoint/2010/main" val="895711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7DA5F3-9AB2-434F-8C66-4DB4B320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DECISION FRAME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A681381-E450-47BE-B294-96E56304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Where can XAIHT win before incumbents absorb the feature set?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4F6B2-2441-46BB-B32A-D2E88F88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The answer must combine differentiated capability, customer pain, distribution, and a supportable operating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5A10D-624F-484F-88C5-3FB52587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58ED0-9359-493D-AA67-534E8791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EF29F-7903-4FA8-96CA-D6A14384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CC2F6-7323-48C3-A3BA-91D9A0FD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3638A-D2B8-4FBD-BFFB-BFD4D17F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42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80308-EFF4-4ACB-A176-821810EE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0D1C8-F8E2-475C-A0F8-FE992637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QUESTION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A8548-8DE1-4685-B776-7EDD9715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3028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Which workflows require codebase context and real-world tool execution in the same bounded run?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5D857-D20A-430D-A894-1180A68B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90750"/>
            <a:ext cx="342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F8ECD-FE48-4AAC-805F-06D7EA65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907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19697-E0BF-42D8-8C78-052CD086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QUESTION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C4BDD-6230-4247-B966-4DB90B4B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3028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Where does human-commanded local operation matter enough to affect purchase or adoption?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9A348-64AE-42C0-9B8A-BE58635E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37338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3320A-FF20-4019-9886-AFA5EC2C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2CE5F-016B-4AA9-9843-2F4F563F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QUESTION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B8CEBF-BBEE-42C6-B9C0-B358D559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3333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Which wedge can produce paid, repeatable workflows before broad platforms close the gap?</a:t>
            </a:r>
          </a:p>
        </p:txBody>
      </p:sp>
    </p:spTree>
    <p:extLst>
      <p:ext uri="{BB962C8B-B14F-4D97-AF65-F5344CB8AC3E}">
        <p14:creationId xmlns:p14="http://schemas.microsoft.com/office/powerpoint/2010/main" val="390610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D7CA23-5835-431D-B288-C4E77F0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MARKET STRUCTURE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F0DD59C-73E8-4D60-8648-BA51648F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Three established categories converge on agentic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D3F96-A07C-410D-9920-3E6E7038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XAIHT should cooperate with them where possible and compete only where its cross-surface operating layer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EE844-5165-4F1D-8993-2A9759BB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B4A8A-0E4D-4E17-8BB5-55BFA913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BDE1E-989C-42CA-A011-ED70AF5C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34FD5-DD72-4CFE-A14F-BAFD06C5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79A4B-5ED8-4337-9E7A-8BB3ACA5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3048000"/>
          </a:xfrm>
          <a:prstGeom xmlns:a="http://schemas.openxmlformats.org/drawingml/2006/main" prst="roundRect">
            <a:avLst>
              <a:gd name="adj" fmla="val 625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9A1F3-CCF4-4E06-9CD4-1E43DF59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FE09C-2D8C-4F07-9B95-0F552E18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CODING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49EAA-CDE5-4D8F-9C0B-C6F1458B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028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OpenAI Codex · Claude Code · GitHub Copilot · Cursor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Core advantage: Repository depth, software delivery, developer distribution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623F3-3461-4709-A3A8-7313ACBE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429000" cy="3048000"/>
          </a:xfrm>
          <a:prstGeom xmlns:a="http://schemas.openxmlformats.org/drawingml/2006/main" prst="roundRect">
            <a:avLst>
              <a:gd name="adj" fmla="val 625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7B20B-2BE7-4081-84DA-300EA9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D52BB-BF79-4353-A546-F19FC456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AUTOMATION PLATFORMS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FC360-39EE-4BE2-8E3A-6FE64278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3028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n8n · Dify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Core advantage: Business connectors, workflow builders, deployment surfaces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2ABE7-4F96-4F97-BEF0-A6D37F45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429000" cy="3048000"/>
          </a:xfrm>
          <a:prstGeom xmlns:a="http://schemas.openxmlformats.org/drawingml/2006/main" prst="roundRect">
            <a:avLst>
              <a:gd name="adj" fmla="val 625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D50D0-7B6F-4FD3-BBD2-4B45AE31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8D3"/>
          </a:solidFill>
          <a:ln xmlns:a="http://schemas.openxmlformats.org/drawingml/2006/main" w="9525">
            <a:solidFill>
              <a:srgbClr val="8B78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8F446-E8EF-4983-A090-7D8705BA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AGENT FRAMEWORKS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6DF2B-FEAB-4EA2-80D0-887A59C1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3028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LangGraph and adjacent ecosystems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Core advantage: Programmable orchestration, state, evaluation, developer extensibility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3D430-B569-4EEE-B627-9DD7212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27B77"/>
                </a:solidFill>
              </a:defRPr>
            </a:pPr>
            <a:r>
              <a:rPr sz="600" b="0">
                <a:solidFill>
                  <a:srgbClr val="727B77"/>
                </a:solidFill>
              </a:rPr>
              <a:t>Sources: official product and documentation pages listed in the campaign claims ledger.</a:t>
            </a:r>
          </a:p>
        </p:txBody>
      </p:sp>
    </p:spTree>
    <p:extLst>
      <p:ext uri="{BB962C8B-B14F-4D97-AF65-F5344CB8AC3E}">
        <p14:creationId xmlns:p14="http://schemas.microsoft.com/office/powerpoint/2010/main" val="2115593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F69C2-1ECB-44D8-9F74-C22ECA4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CODING AGENTS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7CBE57D-846B-44F5-AA54-854B4087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The strongest competitors own developer attention and repository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97015-E215-4497-857F-20E9E4BB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Their distribution and model quality are existential threats; their narrower physical-tool focus creates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534F8-9485-4F34-82E9-B97578AC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BF683-E53B-407F-A81F-D665CCA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04744-57D0-4CE4-9C69-B8D4B0E3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8ACCD-F0B7-4992-BBE0-FB861CF5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1A175-F1F5-4313-AAA6-81C1878E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B7D9"/>
                </a:solidFill>
              </a:defRPr>
            </a:pPr>
            <a:r>
              <a:rPr sz="1200" b="1">
                <a:solidFill>
                  <a:srgbClr val="36B7D9"/>
                </a:solidFill>
              </a:rPr>
              <a:t>OpenAI 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C51CC-5676-436E-8BA4-0639E4DC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Cloud coding agent ecosystem and strong model distribution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74FC3-69FA-4DC1-920E-A8CF207D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3EE"/>
                </a:solidFill>
              </a:defRPr>
            </a:pPr>
            <a:r>
              <a:rPr sz="975" b="0">
                <a:solidFill>
                  <a:srgbClr val="F2F3EE"/>
                </a:solidFill>
              </a:rPr>
              <a:t>Partner through ACPX/MCP; do not compete on raw coding model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EFF30-E5F4-4CB2-B46B-A14EE6D3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C7CAB-C4A7-49F5-8BE0-24F800BE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B7D9"/>
                </a:solidFill>
              </a:defRPr>
            </a:pPr>
            <a:r>
              <a:rPr sz="1200" b="1">
                <a:solidFill>
                  <a:srgbClr val="36B7D9"/>
                </a:solidFill>
              </a:rPr>
              <a:t>Claude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1593D-5B50-47E5-9BA1-8F468E7F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81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Terminal-first coding and broad developer 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54669-5D1A-43BB-AA5F-99972B8A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813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3EE"/>
                </a:solidFill>
              </a:defRPr>
            </a:pPr>
            <a:r>
              <a:rPr sz="975" b="0">
                <a:solidFill>
                  <a:srgbClr val="F2F3EE"/>
                </a:solidFill>
              </a:rPr>
              <a:t>Use as an external agent while Tlamatini supplies wider tool surfaces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5135D-F59B-4002-9C2B-FEADFE64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480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19870-C060-4E8F-94F9-67A14772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147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B7D9"/>
                </a:solidFill>
              </a:defRPr>
            </a:pPr>
            <a:r>
              <a:rPr sz="1200" b="1">
                <a:solidFill>
                  <a:srgbClr val="36B7D9"/>
                </a:solidFill>
              </a:rPr>
              <a:t>GitHub Copilot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B9589-67C3-44B6-8C16-793779A9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147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Deep IDE and GitHub workflow distribution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43307-5123-45FE-B515-1074AF3F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147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3EE"/>
                </a:solidFill>
              </a:defRPr>
            </a:pPr>
            <a:r>
              <a:rPr sz="975" b="0">
                <a:solidFill>
                  <a:srgbClr val="F2F3EE"/>
                </a:solidFill>
              </a:rPr>
              <a:t>Differentiate beyond code completion and repository 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6510D-26FE-4C21-A169-D92F7685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7BE09-7223-45E4-84FD-F8C9161C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B7D9"/>
                </a:solidFill>
              </a:defRPr>
            </a:pPr>
            <a:r>
              <a:rPr sz="1200" b="1">
                <a:solidFill>
                  <a:srgbClr val="36B7D9"/>
                </a:solidFill>
              </a:rPr>
              <a:t>Cursor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2413A-DBAF-4C04-845B-91E1F2F1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482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Agentic editor and background-agent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B8527-8BD3-43B2-907D-BAF8D6E7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482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3EE"/>
                </a:solidFill>
              </a:defRPr>
            </a:pPr>
            <a:r>
              <a:rPr sz="975" b="0">
                <a:solidFill>
                  <a:srgbClr val="F2F3EE"/>
                </a:solidFill>
              </a:rPr>
              <a:t>Compete on local cross-surface orchestration, not editor ergonomics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3F61D-7868-4046-A74E-F683953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B6C13-1A78-47F3-ABA5-3754D009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27B77"/>
                </a:solidFill>
              </a:defRPr>
            </a:pPr>
            <a:r>
              <a:rPr sz="600" b="0">
                <a:solidFill>
                  <a:srgbClr val="727B77"/>
                </a:solidFill>
              </a:rPr>
              <a:t>Sources: OpenAI Codex, Anthropic Claude Code, GitHub Copilot, and Cursor official pages/documentation.</a:t>
            </a:r>
          </a:p>
        </p:txBody>
      </p:sp>
    </p:spTree>
    <p:extLst>
      <p:ext uri="{BB962C8B-B14F-4D97-AF65-F5344CB8AC3E}">
        <p14:creationId xmlns:p14="http://schemas.microsoft.com/office/powerpoint/2010/main" val="5424293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9A6AC3-7389-49B5-B4A2-4CB1E5DB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AUTOMATION AND FRAMEWORKS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A6EBB10-497C-4720-9056-DFBEF55C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Workflow incumbents own connectors; frameworks own programmable orchestration.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A8472-B45F-4829-B995-9ECE4FEC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XAIHT’s answer is integration depth across local project context, engines, devices, voice, and human command.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27CFB-40AC-4F47-BD1A-A06E2F3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63147-1B67-44EE-A5C9-F15D48CD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3941C-15E4-48CA-ADB8-6ACFB9C1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DE00B-8837-4B83-95A5-25A254AD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82BAF-2160-4C59-9EC6-D038C7EB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42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50B90-5209-4AAD-B291-72F77EA4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26F01-9F96-4686-BE0E-70F10425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n8n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EC919-839C-4D10-85BC-4CF09FB4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3028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Large workflow/connectors surface and AI-agent nodes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Strategic reading: Hard to beat on general SaaS automation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61D8A-A018-4AF0-A7B4-B3DDC14D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342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1D051-B4EF-4623-B2FD-B3152434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17548-13FA-431F-A4B6-D9BDDA28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Dify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1DCB6-0D0C-47C8-ABCE-A5A7A298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3028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Open-source LLM application and workflow 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Strategic reading: Strong adjacent open-source distribution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D413F-723C-42D3-819F-AAADE293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42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E0E04-249A-4ACE-BB16-007FEA5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8D3"/>
          </a:solidFill>
          <a:ln xmlns:a="http://schemas.openxmlformats.org/drawingml/2006/main" w="9525">
            <a:solidFill>
              <a:srgbClr val="8B78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B3845-3277-436C-9E75-1614DB4E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LangGraph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AE40E-E91B-4622-B634-BF069891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3028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Stateful agent orchestration for developers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Strategic reading: Powerful framework; more building block than packaged operator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E9608-EDD8-47FC-B324-5D3DB3C0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27B77"/>
                </a:solidFill>
              </a:defRPr>
            </a:pPr>
            <a:r>
              <a:rPr sz="600" b="0">
                <a:solidFill>
                  <a:srgbClr val="727B77"/>
                </a:solidFill>
              </a:rPr>
              <a:t>Sources: n8n AI Agents, Dify, and LangGraph official product pages.</a:t>
            </a:r>
          </a:p>
        </p:txBody>
      </p:sp>
    </p:spTree>
    <p:extLst>
      <p:ext uri="{BB962C8B-B14F-4D97-AF65-F5344CB8AC3E}">
        <p14:creationId xmlns:p14="http://schemas.microsoft.com/office/powerpoint/2010/main" val="1744242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D44053-D38C-468C-9583-3314EF3D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WEDGE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0957579-9843-4D00-873C-CBD9EDFD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XAIHT can own the moment software reaches an engine, board, instrument, or voice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F3724-D471-4D08-8C2F-62E95125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This is narrower than “all AI work” and broader than a code editor.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90DC8-2638-45F2-AA85-FD065B54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CA624-C2C8-4276-B231-7A51BE7D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8BBD1-0EFE-47CF-B13C-78F72FCA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2B416-C25B-4743-B891-5F34165A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8b9c2c02148ef"/>
          <a:srcRect xmlns:a="http://schemas.openxmlformats.org/drawingml/2006/main" l="9594" t="0" r="95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52625"/>
            <a:ext cx="5334000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60B88-213F-4D55-A4B0-686C4056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24075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0D4D6-AEA9-4A96-AC7D-4D86542A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3EE"/>
                </a:solidFill>
              </a:defRPr>
            </a:pPr>
            <a:r>
              <a:rPr sz="1200" b="0">
                <a:solidFill>
                  <a:srgbClr val="F2F3EE"/>
                </a:solidFill>
              </a:rPr>
              <a:t>Project-aware context before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5E394-0FA8-4C5F-AD4F-FCD0D8C7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8CDB8-D837-4352-A6ED-8C1F10A1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3EE"/>
                </a:solidFill>
              </a:defRPr>
            </a:pPr>
            <a:r>
              <a:rPr sz="1200" b="0">
                <a:solidFill>
                  <a:srgbClr val="F2F3EE"/>
                </a:solidFill>
              </a:rPr>
              <a:t>Direct Unreal, Blender, STM32, ESP32, ESPHome, and Arduino paths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F17BB-EEDB-4AEA-AFF2-4BDEE68B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95675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C1CC5-932F-48C8-B4D3-1328BCB5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67100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3EE"/>
                </a:solidFill>
              </a:defRPr>
            </a:pPr>
            <a:r>
              <a:rPr sz="1200" b="0">
                <a:solidFill>
                  <a:srgbClr val="F2F3EE"/>
                </a:solidFill>
              </a:rPr>
              <a:t>Voice, image, video, desktop, browser, messaging, and external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B3F14-7BA0-4146-9065-59142DC8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81475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462D0-BC1E-4C41-AD1E-5FBE9503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3EE"/>
                </a:solidFill>
              </a:defRPr>
            </a:pPr>
            <a:r>
              <a:rPr sz="1200" b="0">
                <a:solidFill>
                  <a:srgbClr val="F2F3EE"/>
                </a:solidFill>
              </a:rPr>
              <a:t>Explicit approvals, execution evidence, and user jurisdiction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1D804-3CD2-4A42-8B5F-CF161EC5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67275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068E7-2C2B-47E1-B94C-D54BDD5B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38700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3EE"/>
                </a:solidFill>
              </a:defRPr>
            </a:pPr>
            <a:r>
              <a:rPr sz="1200" b="0">
                <a:solidFill>
                  <a:srgbClr val="F2F3EE"/>
                </a:solidFill>
              </a:rPr>
              <a:t>Successful work captured as reusable .flw orchestration</a:t>
            </a:r>
          </a:p>
        </p:txBody>
      </p:sp>
    </p:spTree>
    <p:extLst>
      <p:ext uri="{BB962C8B-B14F-4D97-AF65-F5344CB8AC3E}">
        <p14:creationId xmlns:p14="http://schemas.microsoft.com/office/powerpoint/2010/main" val="8144314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2916D1-B1F1-4750-8C7C-1F381B3D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FEATURE MATRIX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FBEF2926-4805-4C02-8E6B-679718F0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Tlamatini is differentiated by surface combination, not by winning every column.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CFC78-659F-4767-A80A-190CC2C1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Directional assessment based on public product positioning; verify during customer discovery.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1CF04-B380-4C9E-B7BD-558615BB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510DA-8DDF-4110-A246-11D16AE6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C77BF-5BD1-4DA9-9041-7E1000AB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66AB4-1C83-4F95-BF06-358D2742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ACA8F-F0AC-4F8F-89FC-D8DB4BD2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CA5A1"/>
                </a:solidFill>
              </a:defRPr>
            </a:pPr>
            <a:r>
              <a:rPr sz="825" b="1">
                <a:solidFill>
                  <a:srgbClr val="9CA5A1"/>
                </a:solidFill>
              </a:rPr>
              <a:t>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8E2AD-50B5-4786-8787-AA2D3554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CA5A1"/>
                </a:solidFill>
              </a:defRPr>
            </a:pPr>
            <a:r>
              <a:rPr sz="825" b="1">
                <a:solidFill>
                  <a:srgbClr val="9CA5A1"/>
                </a:solidFill>
              </a:rPr>
              <a:t>Coding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ADF3E-ADDE-41CF-9CB2-12C08DE5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CA5A1"/>
                </a:solidFill>
              </a:defRPr>
            </a:pPr>
            <a:r>
              <a:rPr sz="825" b="1">
                <a:solidFill>
                  <a:srgbClr val="9CA5A1"/>
                </a:solidFill>
              </a:rPr>
              <a:t>Automation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94474-7BCE-4CDB-8317-7B7DF32E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CA5A1"/>
                </a:solidFill>
              </a:defRPr>
            </a:pPr>
            <a:r>
              <a:rPr sz="825" b="1">
                <a:solidFill>
                  <a:srgbClr val="9CA5A1"/>
                </a:solidFill>
              </a:rPr>
              <a:t>Frameworks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7CE28-83C4-4F41-96B4-CF557767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A84B"/>
                </a:solidFill>
              </a:defRPr>
            </a:pPr>
            <a:r>
              <a:rPr sz="825" b="1">
                <a:solidFill>
                  <a:srgbClr val="D6A84B"/>
                </a:solidFill>
              </a:rPr>
              <a:t>Tlamatini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5150A-A7B5-4231-8C5D-351A6963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76475"/>
            <a:ext cx="11182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13610-B83E-4AF0-8AB6-E278A308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3EE"/>
                </a:solidFill>
              </a:defRPr>
            </a:pPr>
            <a:r>
              <a:rPr sz="975" b="0">
                <a:solidFill>
                  <a:srgbClr val="F2F3EE"/>
                </a:solidFill>
              </a:rPr>
              <a:t>Repository coding depth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4A4EA-8C51-49FB-87EA-EEFC0FB3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33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1A76D-934E-4AD7-B4F0-AB9A14E3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D2BBE-B239-4AE5-B7A9-DA2D56E9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33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MED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4941C-3F4E-4E38-92C3-E475D321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A84B"/>
                </a:solidFill>
              </a:defRPr>
            </a:pPr>
            <a:r>
              <a:rPr sz="825" b="1">
                <a:solidFill>
                  <a:srgbClr val="D6A84B"/>
                </a:solidFill>
              </a:rPr>
              <a:t>MED-HIGH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73401C-C990-436E-96AA-4108E9A9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3EE"/>
                </a:solidFill>
              </a:defRPr>
            </a:pPr>
            <a:r>
              <a:rPr sz="975" b="0">
                <a:solidFill>
                  <a:srgbClr val="F2F3EE"/>
                </a:solidFill>
              </a:rPr>
              <a:t>Business connectors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C2847-C930-46A9-8F44-04DD16C8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9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LOW-MED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CEBB45-11F5-45BC-902A-53B844C7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9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HIGH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3CAE7-7813-46AC-8678-CCE5AAB3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9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C72591-7F04-46EB-9B62-E08C0567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098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A84B"/>
                </a:solidFill>
              </a:defRPr>
            </a:pPr>
            <a:r>
              <a:rPr sz="825" b="1">
                <a:solidFill>
                  <a:srgbClr val="D6A84B"/>
                </a:solidFill>
              </a:rPr>
              <a:t>MED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F576B-4DAA-4B34-BBD1-450CD75D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28975"/>
            <a:ext cx="11182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80B32-0C29-42FA-AC35-63D37EDA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3EE"/>
                </a:solidFill>
              </a:defRPr>
            </a:pPr>
            <a:r>
              <a:rPr sz="975" b="0">
                <a:solidFill>
                  <a:srgbClr val="F2F3EE"/>
                </a:solidFill>
              </a:rPr>
              <a:t>Creative engines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A80AF-5E4E-41EB-B8CE-7A9AE7B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86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BA219-2D87-4C40-AA4A-277B9F77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86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6094BC-00B6-45DC-86EA-FA90A192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86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LOW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00B6B-D526-452E-BF7D-E32B9E4B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861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A84B"/>
                </a:solidFill>
              </a:defRPr>
            </a:pPr>
            <a:r>
              <a:rPr sz="825" b="1">
                <a:solidFill>
                  <a:srgbClr val="D6A84B"/>
                </a:solidFill>
              </a:rPr>
              <a:t>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209416-B856-4ABC-B598-80B59752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3EE"/>
                </a:solidFill>
              </a:defRPr>
            </a:pPr>
            <a:r>
              <a:rPr sz="975" b="0">
                <a:solidFill>
                  <a:srgbClr val="F2F3EE"/>
                </a:solidFill>
              </a:rPr>
              <a:t>Embedded hardware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7E70ED-BAA5-46CA-A068-85FA4688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CD8A0F-0D8B-4AD8-862A-C0CCFA3F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62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LOW-MED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6F46D-A0A1-4B30-A3C4-CAEA370E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62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9211CE-380E-408F-B18E-5902D9AE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623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A84B"/>
                </a:solidFill>
              </a:defRPr>
            </a:pPr>
            <a:r>
              <a:rPr sz="825" b="1">
                <a:solidFill>
                  <a:srgbClr val="D6A84B"/>
                </a:solidFill>
              </a:rPr>
              <a:t>HIGH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A6BF13-F145-4E46-90F1-592E1F15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81475"/>
            <a:ext cx="11182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17F603-2006-4A33-9D85-E6A7184F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8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3EE"/>
                </a:solidFill>
              </a:defRPr>
            </a:pPr>
            <a:r>
              <a:rPr sz="975" b="0">
                <a:solidFill>
                  <a:srgbClr val="F2F3EE"/>
                </a:solidFill>
              </a:rPr>
              <a:t>Visual reusable flows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756BB5-4F1B-498B-901F-8671F06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38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LOW-MED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95C122-88E6-4366-829E-4103FB52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38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34D6CF-D35B-4EC2-B8D6-35A19071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38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CODE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E2A377-55D8-49F4-B8E6-F440A135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386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A84B"/>
                </a:solidFill>
              </a:defRPr>
            </a:pPr>
            <a:r>
              <a:rPr sz="825" b="1">
                <a:solidFill>
                  <a:srgbClr val="D6A84B"/>
                </a:solidFill>
              </a:rPr>
              <a:t>HIGH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C24F72-F337-4ECE-BCC5-D888D1A1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3EE"/>
                </a:solidFill>
              </a:defRPr>
            </a:pPr>
            <a:r>
              <a:rPr sz="975" b="0">
                <a:solidFill>
                  <a:srgbClr val="F2F3EE"/>
                </a:solidFill>
              </a:rPr>
              <a:t>Human approval surface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790B1C-C575-456D-9833-59A370AF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VARIES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F62DEF-31C2-45F4-ADD7-1FD43293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14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VARIES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15166C-7358-4449-9599-94B89201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14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CUSTOM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F9C017-D3FD-4871-B582-47B03CB5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148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A84B"/>
                </a:solidFill>
              </a:defRPr>
            </a:pPr>
            <a:r>
              <a:rPr sz="825" b="1">
                <a:solidFill>
                  <a:srgbClr val="D6A84B"/>
                </a:solidFill>
              </a:rPr>
              <a:t>EXPLICIT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F081BE-2B19-4DFD-B50D-C4E20736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33975"/>
            <a:ext cx="11182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FF03D7-D5C2-48D8-9AB7-5DF0E572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2F3EE"/>
                </a:solidFill>
              </a:defRPr>
            </a:pPr>
            <a:r>
              <a:rPr sz="975" b="0">
                <a:solidFill>
                  <a:srgbClr val="F2F3EE"/>
                </a:solidFill>
              </a:rPr>
              <a:t>Local-first project operator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8649E3-C7F8-4689-AED8-289F1BCA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91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VARIES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B7290E-0801-463E-AC08-AE2B1B31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91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VARIES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0DB6AE-5C8E-471A-8F69-2B4A49FB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91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CA5A1"/>
                </a:solidFill>
              </a:defRPr>
            </a:pPr>
            <a:r>
              <a:rPr sz="825" b="0">
                <a:solidFill>
                  <a:srgbClr val="9CA5A1"/>
                </a:solidFill>
              </a:rPr>
              <a:t>CUSTOM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D3E830-F586-4866-A38B-E679463A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9112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A84B"/>
                </a:solidFill>
              </a:defRPr>
            </a:pPr>
            <a:r>
              <a:rPr sz="825" b="1">
                <a:solidFill>
                  <a:srgbClr val="D6A84B"/>
                </a:solidFill>
              </a:rPr>
              <a:t>CORE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C5BBF4-C514-4774-9ADE-6C775C18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27B77"/>
                </a:solidFill>
              </a:defRPr>
            </a:pPr>
            <a:r>
              <a:rPr sz="600" b="0">
                <a:solidFill>
                  <a:srgbClr val="727B77"/>
                </a:solidFill>
              </a:rPr>
              <a:t>Directional assessment from official public product descriptions; no benchmark or hands-on parity test is implied.</a:t>
            </a:r>
          </a:p>
        </p:txBody>
      </p:sp>
    </p:spTree>
    <p:extLst>
      <p:ext uri="{BB962C8B-B14F-4D97-AF65-F5344CB8AC3E}">
        <p14:creationId xmlns:p14="http://schemas.microsoft.com/office/powerpoint/2010/main" val="9314830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73B0A-7FC7-4D47-AC96-EABC4DC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STRENGTHS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BAF1E6F-B3D5-43D9-B93F-0A8844E2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The current product already demonstrates unusual integration breadth.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BA5AC-3E36-434C-B32F-8564A75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These strengths become commercial only when packaged into reliable, repeatable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FB4ED-40E2-468A-8135-6E5503B8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5A9F6-D8A9-48BB-A4EB-95B26A75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915D9-BD70-41DF-93BC-5E4F165D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6683F-155C-45C5-964A-39722C76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716A6-3EAC-41E2-91BD-01FC05A0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ACA97-AF09-4B32-A275-382857F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93FA4-C806-4C6F-9476-D3B2F99C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BREADTH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EF66C-AAFB-4B1A-863F-ED7F7C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028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85 agents and 94 Multi-Turn tools across software, media, engines, devices, messaging, desktop, browser, and MCP.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D5992-FEAC-4C03-A97D-760C3518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2900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379DC-CFEB-47B5-AFC3-C42CC73B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55217-EB90-428A-AAD7-7DC9B7B6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INSPECTABILITY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9D157-CE14-41DB-B0E5-23A635CA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3028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MIT core, readable Python agents, visible workflows, and source-grounded claims.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E9BC2-C518-4517-BAC6-01E5ED10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73380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B04B1-7229-446B-B19B-33924357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48D3E-9A34-4807-9047-F25BFF3B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HUMAN COMMAND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BFBE3-6066-4D9D-B445-E3460B39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Approval gates, Step-by-Step pacing, reports, cancellation, and explicit responsibility.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AEC25-659F-421A-A3B3-709D4A7E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342900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D7C30-4F24-4393-8B51-A1C55107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8D3"/>
          </a:solidFill>
          <a:ln xmlns:a="http://schemas.openxmlformats.org/drawingml/2006/main" w="9525">
            <a:solidFill>
              <a:srgbClr val="8B78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6AD1E-32CE-4958-A103-DCB41E2B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LOCAL-FIRST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C96EC-F37C-4AF3-965D-13FF6836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3028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Project retrieval and local application state reduce dependence on a single cloud surface.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72A0B-38EB-451B-A4D4-EC3940A3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42900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B6927-275D-4B95-BCC6-901D0EFA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2E18E2-20AC-4C16-AE36-C8EF7EA1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3382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PHYSICAL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179FAB-DF9C-49DE-A68D-E38AA1CB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4825"/>
            <a:ext cx="3028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Robotics, firmware, video verdicts, and engine outputs make demonstrations tangible.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1B7702-22B0-4354-B1DD-12F262A8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62375"/>
            <a:ext cx="373380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26E817-3A21-4157-BEF6-423D2DE3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6237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A57F9F-8DC9-41B2-B32E-15E96ACC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338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ECOSYSTEM BRIDGE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727465-B235-4C91-B5E6-7681DD88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333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ACPX and MCP allow external agents to become collaborators rather than only competitors.</a:t>
            </a:r>
          </a:p>
        </p:txBody>
      </p:sp>
    </p:spTree>
    <p:extLst>
      <p:ext uri="{BB962C8B-B14F-4D97-AF65-F5344CB8AC3E}">
        <p14:creationId xmlns:p14="http://schemas.microsoft.com/office/powerpoint/2010/main" val="841205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3DE9AA-D7E4-4EAB-BB10-51FCEABA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WEAKNESSES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8BE40DBD-10B9-4B4C-8624-6E7CA192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Breadth creates reliability, onboarding, and support debt.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E5EF7-A94B-46DB-B2EB-B195E46B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The strategy must narrow the promise before scaling the company.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2CDA6-403C-4EA0-A911-2E8C5AF6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A43AD-B08E-4BA1-8517-AB62038A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62651-663B-46F1-96B5-D81652B3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B2D64-0303-49A2-AE04-0F98037A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3063D-DF4D-44BF-A80E-32166100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644E5-31DE-4003-9E8E-C977853A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No verified commercial traction or retained-use baseline yet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E14AC-BFAF-4066-B34B-E86C8A08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C05B8-6EF5-4E35-BEA6-CB463F6B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Many external dependencies, credentials, toolchains, and local environment assumptions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4C62E-5963-43A3-81F8-AB475E76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C9068-BED4-4273-9856-BCC62D7D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Broad test and documentation surface increases release burden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03857-2CB5-4A71-AA9B-6079B98D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64948-2603-4ED2-B528-41416850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Windows-first installed experience limits initial platform reach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1F0AF-D86A-4C5A-A2C1-85F19F30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27990-C024-4A03-90A9-5245D7B3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6275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No shipped enterprise identity, fleet policy, signed channel, or formal support SLA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5C9EA-F5DA-40AC-883B-2D359D1E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143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D2CBE-3389-4E84-89A1-4361A52E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95875"/>
            <a:ext cx="1002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3EE"/>
                </a:solidFill>
              </a:defRPr>
            </a:pPr>
            <a:r>
              <a:rPr sz="1275" b="0">
                <a:solidFill>
                  <a:srgbClr val="F2F3EE"/>
                </a:solidFill>
              </a:rPr>
              <a:t>Brand must prove calm utility instead of looking like a generalized science-fiction assistant</a:t>
            </a:r>
          </a:p>
        </p:txBody>
      </p:sp>
    </p:spTree>
    <p:extLst>
      <p:ext uri="{BB962C8B-B14F-4D97-AF65-F5344CB8AC3E}">
        <p14:creationId xmlns:p14="http://schemas.microsoft.com/office/powerpoint/2010/main" val="1434224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A43126-0C86-40DE-9A8C-0D1AD530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THREATS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AB92560E-DF54-4398-82B8-3D2CA9EF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Incumbents can copy features faster than XAIHT can copy distribution.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636EF-47AF-47C2-A82C-ED1D97F4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The response is focus, evidence, and interoperability.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21CA5-A5AA-4753-B177-A0A5853B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C0FDB-B3AC-42F5-8CBD-0CD0ECFC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73F7D-959C-4508-9E62-CC506139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B0280-B676-4912-BE9B-AF73195C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3D63C-0CD9-4F50-957E-7B2AD694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525780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6B27C-783A-4357-8A9B-EA15CD57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EA5FA-DAC8-4C2F-8CEB-A720DEF7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PLATFORM BUNDLING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B77ED-583F-404A-920A-996E3189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Coding and cloud platforms add workflow, browser, desktop, and connector surfaces.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Response: Win a vertical process before horizontal parity arrives.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B1940-93BC-4DB4-A03E-D5D3E36E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525780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FA5FC-224B-4FE8-BB03-75E0BC63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AEF93-BEBB-40F1-B07F-81514046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193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MODEL COMMODITIZATION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AD88D-F618-43E4-AD29-F716705A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Base-model quality converges and reduces perceived product differentiation.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Response: Make validated tool execution and workflow evidence the product.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9FF4A-BE2B-4C5A-9997-8811C290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25780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62C62-E07E-46B8-ABBD-CAC7ECC6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7D664-E8A6-4532-9550-8FBBBFC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SECURITY INCIDENT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A791B-6313-4BDC-9E22-631ADD57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A powerful connector or modified agent causes harm or exposes private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Response: Keep jurisdiction explicit; narrow scopes; publish incident and recovery discipline.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9AF60-EC1C-4F48-8B8A-0914A7E3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257800" cy="1524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FAEA2-6DE7-45D5-BC99-5FB6B2E8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C29B8-9954-4B47-B355-5D34FB8B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SUPPORT OVERLOAD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052DBC-B905-4D64-B8F0-40742DC3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Heterogeneous local setups consume founder time and erase service margin.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Response: Standardize three hero stacks and refuse unsupported combinations.</a:t>
            </a:r>
          </a:p>
        </p:txBody>
      </p:sp>
    </p:spTree>
    <p:extLst>
      <p:ext uri="{BB962C8B-B14F-4D97-AF65-F5344CB8AC3E}">
        <p14:creationId xmlns:p14="http://schemas.microsoft.com/office/powerpoint/2010/main" val="1597618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3E7773-4C15-48AF-BF03-9E41F043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OPPORTUNITIES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3031C82E-35E2-4F63-84F9-F055DADF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Open-source distribution can turn specialist integrations into a trust network.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4CD6C-A2E7-465F-A55D-E51FC256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The highest-value opportunities pair visible proof with paid implementation.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871B0-90E3-4F80-8C0C-E3A53E8C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EA2DF-039A-4EB2-AA87-894F87D5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75A86-3A51-434B-B25F-28893CD9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67625-25DF-4550-9126-6181A7C6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D0B83-8554-4626-9B3D-C01A3B12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3C14A-8B31-49F9-9E9A-81E0ACA9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4D5F0-45C1-4C96-85E2-BD4F1611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VERTICAL WORKFLOW PACKS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CEFC1-7126-46D2-8E04-7023EAE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028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Validated packs for embedded bring-up, robotic verification, game-production steps, and operational readiness.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6A7F5-5E52-4B86-9CF5-A32DBB56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29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6DBF8-B58D-46CD-B1C3-D56FA079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446D1-03EE-4B71-B608-DBF43CDB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PARTNER-LED 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449AA-DA29-4B31-BED0-BB414C64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30289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Makerspaces, systems integrators, educators, and studios extend reach without centralizing every support burden.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161C6-65D4-42E5-9EF1-E974F48D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7338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E6247-1399-4B64-8C95-46139DAE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BD663-BA75-4FF8-8667-3EEBE0AB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HUMAN-COMMAND STANDARD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779FF-B917-4870-A988-1AA994CF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3333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Publish practical patterns for approval, evidence, cancellation, credential scope, and agent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7154492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4AF2B-C9E3-4566-8E61-8D10782C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EXTERNAL SIGNALS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BCBEEBAB-FDA4-4593-AA6D-BF7E5FAD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The market rewards augmentation, but access and infrastructure remain uneven.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929CD-3A60-4A09-9744-9647AEA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This favors adaptable systems that expose constraints instead of hiding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9EE90-36C4-469D-A762-452A1B81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DEA65-9D81-4BF6-8718-F6E01A4C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9C954-BF0B-43BA-8C74-FDB80AC2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C44C4-4B06-4F3A-815D-49C016C6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EE645-9923-4129-AC00-56CF46B4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2476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26FD0-0048-4245-82B1-A8F8D3CD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A84B"/>
                </a:solidFill>
              </a:defRPr>
            </a:pPr>
            <a:r>
              <a:rPr sz="2550" b="1">
                <a:solidFill>
                  <a:srgbClr val="D6A84B"/>
                </a:solidFill>
              </a:rPr>
              <a:t>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AD715-4E8E-463B-8790-9AA36EF8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workers with some GenAI exposure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E959C-75CD-4C2D-8E66-E5BC7DD0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476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209DA-CAB2-4B62-B9F3-D23C1A2D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B7D9"/>
                </a:solidFill>
              </a:defRPr>
            </a:pPr>
            <a:r>
              <a:rPr sz="2550" b="1">
                <a:solidFill>
                  <a:srgbClr val="36B7D9"/>
                </a:solidFill>
              </a:rPr>
              <a:t>34%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9B426-7725-4259-A2A8-CABDFBFA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gain for novice/low-skilled workers in one field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AE554-8202-4A70-A561-B1FEC810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476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2BEDF-25ED-439A-8187-916E0C3E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56855"/>
                </a:solidFill>
              </a:defRPr>
            </a:pPr>
            <a:r>
              <a:rPr sz="2550" b="1">
                <a:solidFill>
                  <a:srgbClr val="E56855"/>
                </a:solidFill>
              </a:rPr>
              <a:t>2.2B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AFCA2-3D20-4CA0-B856-A09A010D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051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people offline in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80000-D6C7-4CC7-8C79-09D2C2C1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90750"/>
            <a:ext cx="295275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61D51-349E-43C9-9038-860377F4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A783"/>
                </a:solidFill>
              </a:defRPr>
            </a:pPr>
            <a:r>
              <a:rPr sz="2550" b="1">
                <a:solidFill>
                  <a:srgbClr val="42A783"/>
                </a:solidFill>
              </a:rPr>
              <a:t>4 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B8A1E-B95C-498A-BAA3-05FD6DE6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05125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connectivity, compute, context, competency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7284A-F85A-4B48-B0E7-D15E8F9B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8D3"/>
                </a:solidFill>
              </a:defRPr>
            </a:pPr>
            <a:r>
              <a:rPr sz="900" b="1">
                <a:solidFill>
                  <a:srgbClr val="8B78D3"/>
                </a:solidFill>
              </a:rPr>
              <a:t>Strategic consequence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6FC534-59F5-4E61-9DCA-C0625AA9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F3EE"/>
                </a:solidFill>
              </a:defRPr>
            </a:pPr>
            <a:r>
              <a:rPr sz="1575" b="1">
                <a:solidFill>
                  <a:srgbClr val="F2F3EE"/>
                </a:solidFill>
              </a:rPr>
              <a:t>Product value will vary sharply by region, sector, infrastructure, language context, and operator skill. XAIHT should measure local activation conditions as carefully as model quality.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EDBE5-D20E-4290-A64E-978B8130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727B77"/>
                </a:solidFill>
              </a:defRPr>
            </a:pPr>
            <a:r>
              <a:rPr sz="600" b="0">
                <a:solidFill>
                  <a:srgbClr val="727B77"/>
                </a:solidFill>
              </a:rPr>
              <a:t>Sources: ILO 2025; NBER w31161; ITU 2025; World Bank Digital Progress and Trends Report 2025.</a:t>
            </a:r>
          </a:p>
        </p:txBody>
      </p:sp>
    </p:spTree>
    <p:extLst>
      <p:ext uri="{BB962C8B-B14F-4D97-AF65-F5344CB8AC3E}">
        <p14:creationId xmlns:p14="http://schemas.microsoft.com/office/powerpoint/2010/main" val="18839649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9381B4-71F5-4D26-965E-95C2D7BD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SCENARIOS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ED3F272C-8C26-47E7-962D-2D0F4257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Three plausible futures require the same first move: prove a narrow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2C793-40CF-4969-BD77-A0C0F9A3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Planning horizon: 2026-2028. These are scenarios, not forecasts.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6AD19-C45E-421C-A8E0-FDD17CE3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1D37D-4CAA-4FA9-B4E9-712319F1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8D07D-24D8-4CB1-A081-E96393EF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352DF-7B7C-414B-B2E2-64AD9BAB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A1C85-6B37-42A2-9DB2-649BF183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3429000" cy="3048000"/>
          </a:xfrm>
          <a:prstGeom xmlns:a="http://schemas.openxmlformats.org/drawingml/2006/main" prst="roundRect">
            <a:avLst>
              <a:gd name="adj" fmla="val 625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3BD6B-F617-4FDB-B6AB-49B255A9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855"/>
          </a:solidFill>
          <a:ln xmlns:a="http://schemas.openxmlformats.org/drawingml/2006/main" w="9525">
            <a:solidFill>
              <a:srgbClr val="E568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3DE10-01B0-473E-98F9-5D495DF7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A · PLATFORM ABSORPTION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3CD51-B853-4FFB-80B3-DC9477CF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028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Incumbents bundle most horizontal agent functions.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XAIHT survives through specialist engine/device workflows, local deployment expertise, and interoperability.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AB65C-F8C6-4735-B6CE-D4AFAACA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29000" cy="3048000"/>
          </a:xfrm>
          <a:prstGeom xmlns:a="http://schemas.openxmlformats.org/drawingml/2006/main" prst="roundRect">
            <a:avLst>
              <a:gd name="adj" fmla="val 625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4E815-EA35-4E5C-B9F1-A9D4CA50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24F25-436F-43D4-A3BE-D582DED8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B · OPEN ECOSYSTEM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FF474-75BD-445A-8A87-B343F0EC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3028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Models and connectors commoditize while open agent standards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XAIHT becomes the human-commanded operating shell and workflow marketplace.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0EF54-F572-44D9-A202-BAD97C07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733800" cy="3048000"/>
          </a:xfrm>
          <a:prstGeom xmlns:a="http://schemas.openxmlformats.org/drawingml/2006/main" prst="roundRect">
            <a:avLst>
              <a:gd name="adj" fmla="val 625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07E9C-4F7D-4626-BE90-535C361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1165C-4BA5-4195-88CD-5CC917B5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C · VERTICAL 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742342-06C3-40BB-A217-59690B21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3333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Safety, sovereignty, and reliability push buyers toward bounded vertical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XAIHT wins with validated packs and operational readiness services.</a:t>
            </a:r>
          </a:p>
        </p:txBody>
      </p:sp>
    </p:spTree>
    <p:extLst>
      <p:ext uri="{BB962C8B-B14F-4D97-AF65-F5344CB8AC3E}">
        <p14:creationId xmlns:p14="http://schemas.microsoft.com/office/powerpoint/2010/main" val="14127112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38ECC-06CA-4CAB-89BA-61674C08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90-DAY RESPONSE</a:t>
            </a:r>
          </a:p>
        </p:txBody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9218E391-03E7-4DE6-B2A8-21746205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Package three proofs and measure one commercial funnel.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3BD3E-350C-4C66-BDBF-4F4BD3E5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The priority is learning velocity, not feature 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77A3E-506E-40F8-B038-18557D67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BCC80-A0AF-4499-B41B-7F8EB0A3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F1D6F-C4A0-4798-9E3F-6070202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CAE05-9BC0-4E02-942B-EF61E35C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3013A-1651-4DFA-BD64-31014877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34290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6FBE2-CFED-48E3-A61B-62B84849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A84B"/>
                </a:solidFill>
              </a:defRPr>
            </a:pPr>
            <a:r>
              <a:rPr sz="2550" b="1">
                <a:solidFill>
                  <a:srgbClr val="D6A84B"/>
                </a:solidFill>
              </a:rPr>
              <a:t>0-30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17FC8-E0AE-4F45-853C-F61BD3E1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ALIGN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5E97F-4AC7-4906-B72B-4AD3D8B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3086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5A1"/>
                </a:solidFill>
              </a:defRPr>
            </a:pPr>
            <a:r>
              <a:rPr sz="1125" b="0">
                <a:solidFill>
                  <a:srgbClr val="9CA5A1"/>
                </a:solidFill>
              </a:rPr>
              <a:t>Ship the identity, claims ledger, security boundary, and three reproducible demos.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DDDB3-D727-4B8D-804B-4F5C9C82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43125"/>
            <a:ext cx="34290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D3173-BCBC-4887-86E5-B98DB08B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14575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B7D9"/>
                </a:solidFill>
              </a:defRPr>
            </a:pPr>
            <a:r>
              <a:rPr sz="2550" b="1">
                <a:solidFill>
                  <a:srgbClr val="36B7D9"/>
                </a:solidFill>
              </a:rPr>
              <a:t>31-60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30E2F-33B3-462B-AB3F-E50BA10B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ACTIVATE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7B7E0-35BA-43E3-BA37-28B0E1E2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71875"/>
            <a:ext cx="3086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5A1"/>
                </a:solidFill>
              </a:defRPr>
            </a:pPr>
            <a:r>
              <a:rPr sz="1125" b="0">
                <a:solidFill>
                  <a:srgbClr val="9CA5A1"/>
                </a:solidFill>
              </a:rPr>
              <a:t>Recruit 10 design partners; measure time to first bounded success and first saved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7BE43-BA44-427F-AB63-13503A0C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4290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E7437-56E2-4717-8E2B-698D4463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14575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A783"/>
                </a:solidFill>
              </a:defRPr>
            </a:pPr>
            <a:r>
              <a:rPr sz="2550" b="1">
                <a:solidFill>
                  <a:srgbClr val="42A783"/>
                </a:solidFill>
              </a:rPr>
              <a:t>61-90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B4850-124E-46F4-AA77-A56839FE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CONVERT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8FEDD-A0AA-436D-BF0E-4B7DF97D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71875"/>
            <a:ext cx="3086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CA5A1"/>
                </a:solidFill>
              </a:defRPr>
            </a:pPr>
            <a:r>
              <a:rPr sz="1125" b="0">
                <a:solidFill>
                  <a:srgbClr val="9CA5A1"/>
                </a:solidFill>
              </a:rPr>
              <a:t>Offer Launch Lab and integration sprints; measure paid conversion, delivery time, and margin.</a:t>
            </a:r>
          </a:p>
        </p:txBody>
      </p:sp>
    </p:spTree>
    <p:extLst>
      <p:ext uri="{BB962C8B-B14F-4D97-AF65-F5344CB8AC3E}">
        <p14:creationId xmlns:p14="http://schemas.microsoft.com/office/powerpoint/2010/main" val="8312015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546F80-EACA-4125-AF47-692BF256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PROOF SCORECARD</a:t>
            </a:r>
          </a:p>
        </p:txBody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6B436F02-1661-4DA2-86FB-BD92349B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A wedge is real only when operators repeat it and pay for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FC5E4-885F-4D5D-BA57-4223B5F1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Use one scorecard across product, commercial, and trust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2ECB7-49DD-4260-B6C3-4BF81268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4B95E-9CD1-4C7E-A7E9-7A659590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C39B4-11AD-4D05-A210-26323700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EB723-E2D8-4163-B4A1-58F19989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BCCD3-773E-4BFF-9BB1-36B5F7AD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84B"/>
                </a:solidFill>
              </a:defRPr>
            </a:pPr>
            <a:r>
              <a:rPr sz="900" b="1">
                <a:solidFill>
                  <a:srgbClr val="D6A84B"/>
                </a:solidFill>
              </a:rPr>
              <a:t>ACTIVATION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37C68-CA9B-4042-8BD6-64F35184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3EE"/>
                </a:solidFill>
              </a:defRPr>
            </a:pPr>
            <a:r>
              <a:rPr sz="1200" b="0">
                <a:solidFill>
                  <a:srgbClr val="F2F3EE"/>
                </a:solidFill>
              </a:rPr>
              <a:t>Installer completion · time to first bounded action · setup interventions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EBE16-32C8-4BF9-8A5D-36387D15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30788-FCED-48FD-8AEF-F4282625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B7D9"/>
                </a:solidFill>
              </a:defRPr>
            </a:pPr>
            <a:r>
              <a:rPr sz="900" b="1">
                <a:solidFill>
                  <a:srgbClr val="36B7D9"/>
                </a:solidFill>
              </a:rPr>
              <a:t>REUSE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68EAD-B43C-43DD-9E97-5125CC18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432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3EE"/>
                </a:solidFill>
              </a:defRPr>
            </a:pPr>
            <a:r>
              <a:rPr sz="1200" b="0">
                <a:solidFill>
                  <a:srgbClr val="F2F3EE"/>
                </a:solidFill>
              </a:rPr>
              <a:t>Time to first saved .flw · workflows reused per active operator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7A77F-CCC6-4010-997B-FE0B5D4A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4C40A-84E1-4881-8178-83A33CE7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2A783"/>
                </a:solidFill>
              </a:defRPr>
            </a:pPr>
            <a:r>
              <a:rPr sz="900" b="1">
                <a:solidFill>
                  <a:srgbClr val="42A783"/>
                </a:solidFill>
              </a:rPr>
              <a:t>RETENTION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079D0-5375-4BCB-A43F-2055D532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86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3EE"/>
                </a:solidFill>
              </a:defRPr>
            </a:pPr>
            <a:r>
              <a:rPr sz="1200" b="0">
                <a:solidFill>
                  <a:srgbClr val="F2F3EE"/>
                </a:solidFill>
              </a:rPr>
              <a:t>Weekly retained operators · second use case adopted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A1367-7B2E-46BD-A406-38A1CD16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A7634-A5F7-45E1-906B-B551134B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78D3"/>
                </a:solidFill>
              </a:defRPr>
            </a:pPr>
            <a:r>
              <a:rPr sz="900" b="1">
                <a:solidFill>
                  <a:srgbClr val="8B78D3"/>
                </a:solidFill>
              </a:rPr>
              <a:t>ECONOMICS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5D291-CE21-4AED-A7A5-14456606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29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3EE"/>
                </a:solidFill>
              </a:defRPr>
            </a:pPr>
            <a:r>
              <a:rPr sz="1200" b="0">
                <a:solidFill>
                  <a:srgbClr val="F2F3EE"/>
                </a:solidFill>
              </a:rPr>
              <a:t>Paid conversion · delivery hours · gross margin · support burden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DD4B6-380C-4AD7-BD4F-5D7FB543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E8781-9B7A-4048-9C9D-33760CAA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56855"/>
                </a:solidFill>
              </a:defRPr>
            </a:pPr>
            <a:r>
              <a:rPr sz="900" b="1">
                <a:solidFill>
                  <a:srgbClr val="E56855"/>
                </a:solidFill>
              </a:rPr>
              <a:t>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63856-2C3A-4541-B56D-F4174160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72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2F3EE"/>
                </a:solidFill>
              </a:defRPr>
            </a:pPr>
            <a:r>
              <a:rPr sz="1200" b="0">
                <a:solidFill>
                  <a:srgbClr val="F2F3EE"/>
                </a:solidFill>
              </a:rPr>
              <a:t>Denied actions · cancel recovery · credential findings · incident severity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76D17-10A3-4C84-B79E-8CF79984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31771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5A5FA0-1DCC-41E8-8D48-CF5C16FE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ECOSYSTEM STRATEGY</a:t>
            </a:r>
          </a:p>
        </p:txBody>
      </p:sp>
      <p:sp>
        <p:nvSpPr>
          <p:cNvPr id="2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EEB01D41-D7A5-4858-9576-4DD99EC6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Turn major agents into tools inside the wider operating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BBC31-1722-45C7-85D2-56ECCB3E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Interoperability reduces direct model competition and lets XAIHT focus on orchestration, physical surfaces, and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96895-D87D-4AD4-8740-5BA36E03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8A448-DE4E-437A-B242-BE87680A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58FE-1846-4DB1-A996-91115395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60793-6393-4E44-B2A9-52F03440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510A5-575F-4AE4-9839-6AAAB9B7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2578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D18CB-6983-40EC-BA8C-9AF85DB3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7D9"/>
          </a:solidFill>
          <a:ln xmlns:a="http://schemas.openxmlformats.org/drawingml/2006/main" w="9525">
            <a:solidFill>
              <a:srgbClr val="36B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08C3E-D007-4F91-9B85-BC4473F7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EXTERNAL CODING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C4DCC-928C-4399-9C4E-7DB7BE00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ACPX delegates to supported CLIs when the operator chooses.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815C4-A550-464F-BFE0-04A5F6A4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2578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798F7-37B8-4C97-AF7A-2ACDD8BD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A783"/>
          </a:solidFill>
          <a:ln xmlns:a="http://schemas.openxmlformats.org/drawingml/2006/main" w="9525">
            <a:solidFill>
              <a:srgbClr val="42A7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62291-80B8-450E-8A45-A02DD6B2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MCP SERVERS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D23C0-143E-4654-BA06-3E28CE6E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Universal transports connect third-party tools while expanding the attack surface.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B8560-9FED-4ACB-A44F-013CF8D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2578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00351-C5CE-42B7-A88D-9942F5D9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9525">
            <a:solidFill>
              <a:srgbClr val="D6A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84F387-29A6-4C52-8578-768B22B0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TLAMATINI OVER MCP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101383-12CC-4E5B-865F-7D0E807E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External clients can use enabled Tlamatini tools and agents.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4E33C-3DC7-451F-9CAB-527D89AB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2578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111516"/>
          </a:solidFill>
          <a:ln xmlns:a="http://schemas.openxmlformats.org/drawingml/2006/main" w="9525">
            <a:solidFill>
              <a:srgbClr val="3037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AEF2F-4862-495E-950D-9D88F1EA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8D3"/>
          </a:solidFill>
          <a:ln xmlns:a="http://schemas.openxmlformats.org/drawingml/2006/main" w="9525">
            <a:solidFill>
              <a:srgbClr val="8B78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3CE009-6E4E-4E24-A429-345F8E60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3EE"/>
                </a:solidFill>
              </a:defRPr>
            </a:pPr>
            <a:r>
              <a:rPr sz="1200" b="1">
                <a:solidFill>
                  <a:srgbClr val="F2F3EE"/>
                </a:solidFill>
              </a:rPr>
              <a:t>WORKFLOW PACKS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602D4-93CC-4B7C-9639-D59D0871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5A1"/>
                </a:solidFill>
              </a:defRPr>
            </a:pPr>
            <a:r>
              <a:rPr sz="900" b="0">
                <a:solidFill>
                  <a:srgbClr val="9CA5A1"/>
                </a:solidFill>
              </a:rPr>
              <a:t>Validated .flw processes become the shared operational asset.</a:t>
            </a:r>
          </a:p>
        </p:txBody>
      </p:sp>
    </p:spTree>
    <p:extLst>
      <p:ext uri="{BB962C8B-B14F-4D97-AF65-F5344CB8AC3E}">
        <p14:creationId xmlns:p14="http://schemas.microsoft.com/office/powerpoint/2010/main" val="225132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642B8F-DF32-43AC-ADF9-EFE1E494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2A783"/>
                </a:solidFill>
              </a:defRPr>
            </a:pPr>
            <a:r>
              <a:rPr sz="750" b="1">
                <a:solidFill>
                  <a:srgbClr val="42A783"/>
                </a:solidFill>
              </a:rPr>
              <a:t>RISK REGISTER</a:t>
            </a:r>
          </a:p>
        </p:txBody>
      </p:sp>
      <p:sp>
        <p:nvSpPr>
          <p:cNvPr id="2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A41400D9-036E-45F6-9B2E-435C7A01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F3EE"/>
                </a:solidFill>
              </a:defRPr>
            </a:pPr>
            <a:r>
              <a:rPr sz="2550" b="1">
                <a:solidFill>
                  <a:srgbClr val="F2F3EE"/>
                </a:solidFill>
              </a:rPr>
              <a:t>The highest risks are operational, not rhetorical.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3E3EC-3C1C-4EB2-B4BA-E83079A2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CA5A1"/>
                </a:solidFill>
              </a:defRPr>
            </a:pPr>
            <a:r>
              <a:rPr sz="1200" b="0">
                <a:solidFill>
                  <a:srgbClr val="9CA5A1"/>
                </a:solidFill>
              </a:rPr>
              <a:t>Assign owners and evidence before scaling promotion.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C63D7-6D48-4711-B783-8DCC7E5F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C30E4-C355-42AB-9154-CAE77ADC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807B3-2A98-4360-AD77-2112AC12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5175D-490B-44CD-82C4-E5E6056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5EF76-3D21-46F0-A358-E76E927E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3EE"/>
                </a:solidFill>
              </a:defRPr>
            </a:pPr>
            <a:r>
              <a:rPr sz="1050" b="1">
                <a:solidFill>
                  <a:srgbClr val="F2F3EE"/>
                </a:solidFill>
              </a:rPr>
              <a:t>Security / privacy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AFA88-603E-4436-A542-6F574CE5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56855"/>
                </a:solidFill>
              </a:defRPr>
            </a:pPr>
            <a:r>
              <a:rPr sz="900" b="1">
                <a:solidFill>
                  <a:srgbClr val="E56855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A66D5-F40D-4705-B066-EC5392B1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Scope controls, secret handling, release guards, incident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C6ACF-C14D-48FB-AD5D-56A72346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8628F-0768-4E43-B05D-E475DE98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3EE"/>
                </a:solidFill>
              </a:defRPr>
            </a:pPr>
            <a:r>
              <a:rPr sz="1050" b="1">
                <a:solidFill>
                  <a:srgbClr val="F2F3EE"/>
                </a:solidFill>
              </a:rPr>
              <a:t>Integration reliability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39422-0814-4632-B18F-234FDFA1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56855"/>
                </a:solidFill>
              </a:defRPr>
            </a:pPr>
            <a:r>
              <a:rPr sz="900" b="1">
                <a:solidFill>
                  <a:srgbClr val="E56855"/>
                </a:solidFill>
              </a:rPr>
              <a:t>HIGH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5BC85-B4A1-44CA-913F-204BFD7A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Three supported stacks, reproducible tests, dependency diagnostics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642A3-299B-43C3-907F-506806C1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16C72-B378-48FA-A051-C24CE0BA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3EE"/>
                </a:solidFill>
              </a:defRPr>
            </a:pPr>
            <a:r>
              <a:rPr sz="1050" b="1">
                <a:solidFill>
                  <a:srgbClr val="F2F3EE"/>
                </a:solidFill>
              </a:rPr>
              <a:t>Support economics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5933B-BAB2-46AE-8773-F6A66963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289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56855"/>
                </a:solidFill>
              </a:defRPr>
            </a:pPr>
            <a:r>
              <a:rPr sz="900" b="1">
                <a:solidFill>
                  <a:srgbClr val="E56855"/>
                </a:solidFill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BD80E-7882-461C-8145-48039D0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Measure delivery hours, refuse unsupported combinations, partner 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24F8E-6168-41CC-AF5D-E9F120AC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37879-79EB-40CA-BB71-1DF1606F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3EE"/>
                </a:solidFill>
              </a:defRPr>
            </a:pPr>
            <a:r>
              <a:rPr sz="1050" b="1">
                <a:solidFill>
                  <a:srgbClr val="F2F3EE"/>
                </a:solidFill>
              </a:rPr>
              <a:t>Platform competition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E628E-4A1E-43C4-9BC8-DC2EAC9A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67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6A84B"/>
                </a:solidFill>
              </a:defRPr>
            </a:pPr>
            <a:r>
              <a:rPr sz="900" b="1">
                <a:solidFill>
                  <a:srgbClr val="D6A84B"/>
                </a:solidFill>
              </a:rPr>
              <a:t>MED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E591F-8489-45FA-9201-3447DFB7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671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Interoperate, focus vertical, accumulate workflow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B7F3DB-DC49-44CD-8AD6-63986646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55395-BCE5-420E-B4D0-D8F8127B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3EE"/>
                </a:solidFill>
              </a:defRPr>
            </a:pPr>
            <a:r>
              <a:rPr sz="1050" b="1">
                <a:solidFill>
                  <a:srgbClr val="F2F3EE"/>
                </a:solidFill>
              </a:rPr>
              <a:t>Brand credibility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1C40C3-3F0D-4587-9108-DBC837EE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053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6A84B"/>
                </a:solidFill>
              </a:defRPr>
            </a:pPr>
            <a:r>
              <a:rPr sz="900" b="1">
                <a:solidFill>
                  <a:srgbClr val="D6A84B"/>
                </a:solidFill>
              </a:rPr>
              <a:t>MED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C112EC-A027-4C89-B911-EEA7A774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05325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Current counts, real demos, no fabricated traction, no autonomous fantasy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489A7-B8F3-4B04-A113-76EC38AB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24DDF2-B8AC-4C55-94DA-A6315B23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F3EE"/>
                </a:solidFill>
              </a:defRPr>
            </a:pPr>
            <a:r>
              <a:rPr sz="1050" b="1">
                <a:solidFill>
                  <a:srgbClr val="F2F3EE"/>
                </a:solidFill>
              </a:rPr>
              <a:t>Energy / access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7C207-DF0C-4224-8937-6E567824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6A84B"/>
                </a:solidFill>
              </a:defRPr>
            </a:pPr>
            <a:r>
              <a:rPr sz="900" b="1">
                <a:solidFill>
                  <a:srgbClr val="D6A84B"/>
                </a:solidFill>
              </a:rPr>
              <a:t>MED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BB02F3-BA3E-4523-895C-39BBC9B8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435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A5A1"/>
                </a:solidFill>
              </a:defRPr>
            </a:pPr>
            <a:r>
              <a:rPr sz="975" b="0">
                <a:solidFill>
                  <a:srgbClr val="9CA5A1"/>
                </a:solidFill>
              </a:rPr>
              <a:t>Measure local hardware, connectivity, model, and language constraints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797F5-D23C-421B-9824-1F9BBF81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64518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78716b9dc4d7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C8D62-0123-4A90-8327-27BD0648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25C89-CB40-4F7C-B00E-08819995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A84B"/>
                </a:solidFill>
              </a:defRPr>
            </a:pPr>
            <a:r>
              <a:rPr sz="750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24EB5-4D36-418B-8EA6-83F2CB9A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2F3EE"/>
                </a:solidFill>
              </a:defRPr>
            </a:pPr>
            <a:r>
              <a:rPr sz="3450" b="1">
                <a:solidFill>
                  <a:srgbClr val="F2F3EE"/>
                </a:solidFill>
              </a:rPr>
              <a:t>Focus the promise. Expand the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F1B1C-D8CB-42FE-B2AB-1E698EDF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D2CE"/>
                </a:solidFill>
              </a:defRPr>
            </a:pPr>
            <a:r>
              <a:rPr sz="1425" b="0">
                <a:solidFill>
                  <a:srgbClr val="CDD2CE"/>
                </a:solidFill>
              </a:rPr>
              <a:t>Tlamatini should not challenge every coding agent or automation platform. It should become the trusted operator for workflows that cross code, engines, devices, media, and human approval.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2B695-807F-4B72-97E5-F48E179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A783"/>
                </a:solidFill>
              </a:defRPr>
            </a:pPr>
            <a:r>
              <a:rPr sz="1650" b="1">
                <a:solidFill>
                  <a:srgbClr val="42A783"/>
                </a:solidFill>
              </a:rPr>
              <a:t>Win one vertical workflow, then earn the right to widen.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2B579-D949-473D-ACCC-89E22C98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738"/>
          </a:solidFill>
          <a:ln xmlns:a="http://schemas.openxmlformats.org/drawingml/2006/main" w="0">
            <a:solidFill>
              <a:srgbClr val="3037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E8569-F2E6-488C-A0DB-5D16C81C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B"/>
                </a:solidFill>
              </a:defRPr>
            </a:pPr>
            <a:r>
              <a:rPr sz="675" b="1">
                <a:solidFill>
                  <a:srgbClr val="D6A84B"/>
                </a:solidFill>
              </a:rPr>
              <a:t>XAIHT / TLAMATINI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EF6D7-CB07-45E3-944B-F9BC42B4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532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COMPETITION / THREATS / OPPORTUNITIES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18474-DA84-409B-8612-6A2AA603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CA5A1"/>
                </a:solidFill>
              </a:defRPr>
            </a:pPr>
            <a:r>
              <a:rPr sz="675" b="0">
                <a:solidFill>
                  <a:srgbClr val="9CA5A1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97799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2026-07-15T20:21:46.0810000Z</dcterms:created>
  <dcterms:modified xsi:type="dcterms:W3CDTF">2026-07-15T20:21:46.0810000Z</dcterms:modified>
</coreProperties>
</file>