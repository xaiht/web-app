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b57288804423d" /><Relationship Type="http://schemas.openxmlformats.org/officeDocument/2006/relationships/extended-properties" Target="/docProps/app.xml" Id="R7c73af5dd6844168" /><Relationship Type="http://schemas.openxmlformats.org/officeDocument/2006/relationships/officeDocument" Target="/ppt/presentation.xml" Id="Rb2bac105fe2446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718fef58b04737"/>
  </p:sldMasterIdLst>
  <p:notesMasterIdLst>
    <p:notesMasterId xmlns:r="http://schemas.openxmlformats.org/officeDocument/2006/relationships" r:id="Rf20daf314a5342ca"/>
  </p:notesMasterIdLst>
  <p:sldIdLst>
    <p:sldId xmlns:r="http://schemas.openxmlformats.org/officeDocument/2006/relationships" id="256" r:id="Re8e27f9021da4d5b"/>
    <p:sldId xmlns:r="http://schemas.openxmlformats.org/officeDocument/2006/relationships" id="257" r:id="R6b83cba5b6524024"/>
    <p:sldId xmlns:r="http://schemas.openxmlformats.org/officeDocument/2006/relationships" id="258" r:id="R53ad9021e2f24cef"/>
    <p:sldId xmlns:r="http://schemas.openxmlformats.org/officeDocument/2006/relationships" id="259" r:id="Rcbe738c471a344b1"/>
    <p:sldId xmlns:r="http://schemas.openxmlformats.org/officeDocument/2006/relationships" id="260" r:id="R5ab8a41eef6f43f4"/>
    <p:sldId xmlns:r="http://schemas.openxmlformats.org/officeDocument/2006/relationships" id="261" r:id="R1a4eb2a3d13a4403"/>
    <p:sldId xmlns:r="http://schemas.openxmlformats.org/officeDocument/2006/relationships" id="262" r:id="Rb5b82aeca9d54aa4"/>
    <p:sldId xmlns:r="http://schemas.openxmlformats.org/officeDocument/2006/relationships" id="263" r:id="Rbe4ff18a3d84409c"/>
    <p:sldId xmlns:r="http://schemas.openxmlformats.org/officeDocument/2006/relationships" id="264" r:id="Re4980d9aa4224590"/>
    <p:sldId xmlns:r="http://schemas.openxmlformats.org/officeDocument/2006/relationships" id="265" r:id="R9dc1955d82304f95"/>
    <p:sldId xmlns:r="http://schemas.openxmlformats.org/officeDocument/2006/relationships" id="266" r:id="Rdadcf7e5ceae4d98"/>
    <p:sldId xmlns:r="http://schemas.openxmlformats.org/officeDocument/2006/relationships" id="267" r:id="Rd963d3e93b164173"/>
    <p:sldId xmlns:r="http://schemas.openxmlformats.org/officeDocument/2006/relationships" id="268" r:id="R7bc7b354bcde4a99"/>
    <p:sldId xmlns:r="http://schemas.openxmlformats.org/officeDocument/2006/relationships" id="269" r:id="R61036c7482844fda"/>
    <p:sldId xmlns:r="http://schemas.openxmlformats.org/officeDocument/2006/relationships" id="270" r:id="Re6a76bd5b3744427"/>
    <p:sldId xmlns:r="http://schemas.openxmlformats.org/officeDocument/2006/relationships" id="271" r:id="Rf6e5de89c17849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6d09005c1d4008" /><Relationship Type="http://schemas.openxmlformats.org/officeDocument/2006/relationships/slideMaster" Target="/ppt/slideMasters/slideMaster1.xml" Id="R3f718fef58b04737" /><Relationship Type="http://schemas.openxmlformats.org/officeDocument/2006/relationships/notesMaster" Target="/ppt/notesMasters/notesMaster1.xml" Id="Rf20daf314a5342ca" /><Relationship Type="http://schemas.openxmlformats.org/officeDocument/2006/relationships/presProps" Target="/ppt/presProps.xml" Id="R115af4faaa7644ef" /><Relationship Type="http://schemas.openxmlformats.org/officeDocument/2006/relationships/tableStyles" Target="/ppt/tableStyles.xml" Id="Raea1adbcb9ae44c2" /><Relationship Type="http://schemas.openxmlformats.org/officeDocument/2006/relationships/slide" Target="/ppt/slides/slide1.xml" Id="Re8e27f9021da4d5b" /><Relationship Type="http://schemas.openxmlformats.org/officeDocument/2006/relationships/slide" Target="/ppt/slides/slide2.xml" Id="R6b83cba5b6524024" /><Relationship Type="http://schemas.openxmlformats.org/officeDocument/2006/relationships/slide" Target="/ppt/slides/slide3.xml" Id="R53ad9021e2f24cef" /><Relationship Type="http://schemas.openxmlformats.org/officeDocument/2006/relationships/slide" Target="/ppt/slides/slide4.xml" Id="Rcbe738c471a344b1" /><Relationship Type="http://schemas.openxmlformats.org/officeDocument/2006/relationships/slide" Target="/ppt/slides/slide5.xml" Id="R5ab8a41eef6f43f4" /><Relationship Type="http://schemas.openxmlformats.org/officeDocument/2006/relationships/slide" Target="/ppt/slides/slide6.xml" Id="R1a4eb2a3d13a4403" /><Relationship Type="http://schemas.openxmlformats.org/officeDocument/2006/relationships/slide" Target="/ppt/slides/slide7.xml" Id="Rb5b82aeca9d54aa4" /><Relationship Type="http://schemas.openxmlformats.org/officeDocument/2006/relationships/slide" Target="/ppt/slides/slide8.xml" Id="Rbe4ff18a3d84409c" /><Relationship Type="http://schemas.openxmlformats.org/officeDocument/2006/relationships/slide" Target="/ppt/slides/slide9.xml" Id="Re4980d9aa4224590" /><Relationship Type="http://schemas.openxmlformats.org/officeDocument/2006/relationships/slide" Target="/ppt/slides/slide10.xml" Id="R9dc1955d82304f95" /><Relationship Type="http://schemas.openxmlformats.org/officeDocument/2006/relationships/slide" Target="/ppt/slides/slide11.xml" Id="Rdadcf7e5ceae4d98" /><Relationship Type="http://schemas.openxmlformats.org/officeDocument/2006/relationships/slide" Target="/ppt/slides/slide12.xml" Id="Rd963d3e93b164173" /><Relationship Type="http://schemas.openxmlformats.org/officeDocument/2006/relationships/slide" Target="/ppt/slides/slide13.xml" Id="R7bc7b354bcde4a99" /><Relationship Type="http://schemas.openxmlformats.org/officeDocument/2006/relationships/slide" Target="/ppt/slides/slide14.xml" Id="R61036c7482844fda" /><Relationship Type="http://schemas.openxmlformats.org/officeDocument/2006/relationships/slide" Target="/ppt/slides/slide15.xml" Id="Re6a76bd5b3744427" /><Relationship Type="http://schemas.openxmlformats.org/officeDocument/2006/relationships/slide" Target="/ppt/slides/slide16.xml" Id="Rf6e5de89c17849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84e9691ccd4e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8916791faa403d" /><Relationship Type="http://schemas.openxmlformats.org/officeDocument/2006/relationships/notesMaster" Target="/ppt/notesMasters/notesMaster1.xml" Id="R792a8e82922f44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21ef4523b14e17" /><Relationship Type="http://schemas.openxmlformats.org/officeDocument/2006/relationships/notesMaster" Target="/ppt/notesMasters/notesMaster1.xml" Id="R48a4bb3f87fe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3c021d7de24d7f" /><Relationship Type="http://schemas.openxmlformats.org/officeDocument/2006/relationships/notesMaster" Target="/ppt/notesMasters/notesMaster1.xml" Id="R4585a8e601a74f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e3740b67a0478d" /><Relationship Type="http://schemas.openxmlformats.org/officeDocument/2006/relationships/notesMaster" Target="/ppt/notesMasters/notesMaster1.xml" Id="R239de0b55ada47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8f7283125f48fa" /><Relationship Type="http://schemas.openxmlformats.org/officeDocument/2006/relationships/notesMaster" Target="/ppt/notesMasters/notesMaster1.xml" Id="R2b1fa7c7d82a46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54336cb791492a" /><Relationship Type="http://schemas.openxmlformats.org/officeDocument/2006/relationships/notesMaster" Target="/ppt/notesMasters/notesMaster1.xml" Id="R0b615a2e6a174c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8c3fd0df2d4862" /><Relationship Type="http://schemas.openxmlformats.org/officeDocument/2006/relationships/notesMaster" Target="/ppt/notesMasters/notesMaster1.xml" Id="Rfe9dff0f094742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62dfe4c1cc4a20" /><Relationship Type="http://schemas.openxmlformats.org/officeDocument/2006/relationships/notesMaster" Target="/ppt/notesMasters/notesMaster1.xml" Id="R867f5b008ded43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58bb1e379a48f5" /><Relationship Type="http://schemas.openxmlformats.org/officeDocument/2006/relationships/notesMaster" Target="/ppt/notesMasters/notesMaster1.xml" Id="R32455104e72741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39f79363b44f55" /><Relationship Type="http://schemas.openxmlformats.org/officeDocument/2006/relationships/notesMaster" Target="/ppt/notesMasters/notesMaster1.xml" Id="R8abf4fbb6ed64c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b3e7a419bd4fc3" /><Relationship Type="http://schemas.openxmlformats.org/officeDocument/2006/relationships/notesMaster" Target="/ppt/notesMasters/notesMaster1.xml" Id="Rb9925d78984946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d24e92c8c6452e" /><Relationship Type="http://schemas.openxmlformats.org/officeDocument/2006/relationships/notesMaster" Target="/ppt/notesMasters/notesMaster1.xml" Id="R8cc46678af634f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40d56c7fd24de8" /><Relationship Type="http://schemas.openxmlformats.org/officeDocument/2006/relationships/notesMaster" Target="/ppt/notesMasters/notesMaster1.xml" Id="R11631bd688774b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dba07b2e624f8f" /><Relationship Type="http://schemas.openxmlformats.org/officeDocument/2006/relationships/notesMaster" Target="/ppt/notesMasters/notesMaster1.xml" Id="Re678f5ca69a44c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860776306747ec" /><Relationship Type="http://schemas.openxmlformats.org/officeDocument/2006/relationships/notesMaster" Target="/ppt/notesMasters/notesMaster1.xml" Id="Raa161df52baa43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effc7f989f4cb1" /><Relationship Type="http://schemas.openxmlformats.org/officeDocument/2006/relationships/notesMaster" Target="/ppt/notesMasters/notesMaster1.xml" Id="R5823463b7b0d4d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3b06d9420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cc60df48d4f4a" /><Relationship Type="http://schemas.openxmlformats.org/officeDocument/2006/relationships/slideLayout" Target="/ppt/slideLayouts/slideLayout1.xml" Id="R284e670c06c241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4e670c06c241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c356631f14b39" /><Relationship Type="http://schemas.openxmlformats.org/officeDocument/2006/relationships/image" Target="/ppt/media/image.png" Id="R10cd11baa1b6438c" /><Relationship Type="http://schemas.openxmlformats.org/officeDocument/2006/relationships/image" Target="/ppt/media/image2.png" Id="R9c896edf1b6d4b5a" /><Relationship Type="http://schemas.openxmlformats.org/officeDocument/2006/relationships/notesSlide" Target="/ppt/notesSlides/notesSlide1.xml" Id="R22a9d1bb524a4e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2c56b34d840d8" /><Relationship Type="http://schemas.openxmlformats.org/officeDocument/2006/relationships/notesSlide" Target="/ppt/notesSlides/notesSlide2.xml" Id="R94c6f0a2921b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2ffcdddb44a88" /><Relationship Type="http://schemas.openxmlformats.org/officeDocument/2006/relationships/notesSlide" Target="/ppt/notesSlides/notesSlide3.xml" Id="R390f157ab39045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4111b36d74a1d" /><Relationship Type="http://schemas.openxmlformats.org/officeDocument/2006/relationships/image" Target="/ppt/media/image3.png" Id="Raae788686f3a42b7" /><Relationship Type="http://schemas.openxmlformats.org/officeDocument/2006/relationships/notesSlide" Target="/ppt/notesSlides/notesSlide4.xml" Id="Rbedb5eb94e174a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8d354ffab4151" /><Relationship Type="http://schemas.openxmlformats.org/officeDocument/2006/relationships/notesSlide" Target="/ppt/notesSlides/notesSlide5.xml" Id="Ref28d425157a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578e58edd4c3d" /><Relationship Type="http://schemas.openxmlformats.org/officeDocument/2006/relationships/notesSlide" Target="/ppt/notesSlides/notesSlide6.xml" Id="R12868c61e0c0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f1e2cedb24728" /><Relationship Type="http://schemas.openxmlformats.org/officeDocument/2006/relationships/image" Target="/ppt/media/image4.png" Id="Rb0c01e8f2ebe4742" /><Relationship Type="http://schemas.openxmlformats.org/officeDocument/2006/relationships/image" Target="/ppt/media/image5.png" Id="R67cfd01676594854" /><Relationship Type="http://schemas.openxmlformats.org/officeDocument/2006/relationships/image" Target="/ppt/media/image6.png" Id="R23ce9c4d83b84e29" /><Relationship Type="http://schemas.openxmlformats.org/officeDocument/2006/relationships/image" Target="/ppt/media/image7.png" Id="Rbc3ae683b10942b5" /><Relationship Type="http://schemas.openxmlformats.org/officeDocument/2006/relationships/notesSlide" Target="/ppt/notesSlides/notesSlide7.xml" Id="R682b597a843144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baada7a524faa" /><Relationship Type="http://schemas.openxmlformats.org/officeDocument/2006/relationships/image" Target="/ppt/media/image8.png" Id="R7f6fdf6a982d4318" /><Relationship Type="http://schemas.openxmlformats.org/officeDocument/2006/relationships/notesSlide" Target="/ppt/notesSlides/notesSlide8.xml" Id="Raebdfcebc6574e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47e8c1b344d4f" /><Relationship Type="http://schemas.openxmlformats.org/officeDocument/2006/relationships/notesSlide" Target="/ppt/notesSlides/notesSlide9.xml" Id="R2c04b4293c9646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d24cd82d24730" /><Relationship Type="http://schemas.openxmlformats.org/officeDocument/2006/relationships/notesSlide" Target="/ppt/notesSlides/notesSlide10.xml" Id="R5453e5fd3b5347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ea718d2f14bb9" /><Relationship Type="http://schemas.openxmlformats.org/officeDocument/2006/relationships/notesSlide" Target="/ppt/notesSlides/notesSlide11.xml" Id="Rd08fbc6798534c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8c00e1f5149f0" /><Relationship Type="http://schemas.openxmlformats.org/officeDocument/2006/relationships/notesSlide" Target="/ppt/notesSlides/notesSlide12.xml" Id="Rb7054711b3ca4f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9b683bfa642cf" /><Relationship Type="http://schemas.openxmlformats.org/officeDocument/2006/relationships/notesSlide" Target="/ppt/notesSlides/notesSlide13.xml" Id="R039939a8ea4c44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2f9cdf43e497f" /><Relationship Type="http://schemas.openxmlformats.org/officeDocument/2006/relationships/notesSlide" Target="/ppt/notesSlides/notesSlide14.xml" Id="Rc5b6427c204c44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78eba52484916" /><Relationship Type="http://schemas.openxmlformats.org/officeDocument/2006/relationships/notesSlide" Target="/ppt/notesSlides/notesSlide15.xml" Id="R02d8e45bd38c47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b9865ca174af7" /><Relationship Type="http://schemas.openxmlformats.org/officeDocument/2006/relationships/image" Target="/ppt/media/image9.png" Id="R15fc137e8ba44116" /><Relationship Type="http://schemas.openxmlformats.org/officeDocument/2006/relationships/notesSlide" Target="/ppt/notesSlides/notesSlide16.xml" Id="R47bcacd22fed4c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d11baa1b643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D8C7A-3C21-489B-B984-B4143632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11498-F129-4424-A16D-AD99E44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3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96edf1b6d4b5a"/>
          <a:stretch xmlns:a="http://schemas.openxmlformats.org/drawingml/2006/main"/>
        </p:blipFill>
        <p:spPr>
          <a:xfrm xmlns:a="http://schemas.openxmlformats.org/drawingml/2006/main">
            <a:off x="635454" y="514350"/>
            <a:ext cx="3929743" cy="723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2BDD5-E42E-4BD8-ABDE-F8FCA0EB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F3EE"/>
                </a:solidFill>
              </a:defRPr>
            </a:pPr>
            <a:r>
              <a:rPr sz="3450" b="1">
                <a:solidFill>
                  <a:srgbClr val="F2F3EE"/>
                </a:solidFill>
              </a:rPr>
              <a:t>The human-commanded operations layer for builders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B5BE3-3124-461B-8CD9-BF6875B4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D9D5"/>
                </a:solidFill>
              </a:defRPr>
            </a:pPr>
            <a:r>
              <a:rPr sz="1350" b="0">
                <a:solidFill>
                  <a:srgbClr val="D5D9D5"/>
                </a:solidFill>
              </a:rPr>
              <a:t>Tlamatini connects project intelligence, guarded action, creative engines, embedded hardware, and reusable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E1367-0796-459B-9DBC-8F0EC12B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29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B"/>
                </a:solidFill>
              </a:defRPr>
            </a:pPr>
            <a:r>
              <a:rPr sz="750" b="1">
                <a:solidFill>
                  <a:srgbClr val="D6A84B"/>
                </a:solidFill>
              </a:rPr>
              <a:t>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EFADA-8F30-4FD4-AD40-F6159545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29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5A1"/>
                </a:solidFill>
              </a:defRPr>
            </a:pPr>
            <a:r>
              <a:rPr sz="750" b="0">
                <a:solidFill>
                  <a:srgbClr val="9CA5A1"/>
                </a:solidFill>
              </a:rPr>
              <a:t>INVESTOR BRIEF</a:t>
            </a:r>
          </a:p>
        </p:txBody>
      </p:sp>
    </p:spTree>
    <p:extLst>
      <p:ext uri="{BB962C8B-B14F-4D97-AF65-F5344CB8AC3E}">
        <p14:creationId xmlns:p14="http://schemas.microsoft.com/office/powerpoint/2010/main" val="400476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8EE382-9E94-4FCC-901B-2156928E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CATEGORY SHIFT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B2128763-F3C6-4F25-88D7-AF931255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AI is moving beyond the chat box.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04A01-B712-469A-AB53-5415C431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 valuable unit is no longer an answer. It is an inspectable action across the systems where work happens.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DA234-53B7-43D4-8F34-C14A9DAC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59B0C-FC10-4819-9094-02BEEF4C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15579-139D-4188-9D1F-EAEA2CEE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3B502-B07D-43C4-9C21-BB5831A0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AB98A-3CC2-4F41-9247-BD72A3E8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476500" cy="314325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14231-E50C-4804-B518-CE8E035A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AD399-3CF7-4566-A37F-4B305D46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Coding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3508F-A8B3-4A20-A98B-9635C30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76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Deep code execution, but commonly optimized around repositories and software delivery.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D6233-6E2B-40C7-B47C-6DF26DED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2476500" cy="314325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2B91E-F676-4DE5-852E-C6AA2BC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77910-3FAC-4015-8663-D23CD9BE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Automation platforms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5598C-68B7-4363-B500-552842BE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076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Broad business integrations, but often distant from project context, creative tools, and device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2FFEB-6E31-48B3-9313-36F248C5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476500" cy="314325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22EF1-3E72-4204-9E18-DEA6AB1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91E18-A38B-4073-BC9E-353BDA0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Physical toolchains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D2562-8668-44DE-8A83-1FE63CC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076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Powerful engines and boards, but fragmented across specialists, commands, and local setup.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28111-67CE-4E29-8B95-56000DCA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952750" cy="314325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A93D2-60B0-47DD-B325-1A8DE20B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2EEAC-4007-4CFF-B2AA-F6F47517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The open 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5DD34-1B2C-4495-BDAE-E03C454F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5527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 local-first operator that knows the project, crosses these surfaces, and keeps the human in command.</a:t>
            </a:r>
          </a:p>
        </p:txBody>
      </p:sp>
    </p:spTree>
    <p:extLst>
      <p:ext uri="{BB962C8B-B14F-4D97-AF65-F5344CB8AC3E}">
        <p14:creationId xmlns:p14="http://schemas.microsoft.com/office/powerpoint/2010/main" val="1412363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F4A23-1C7B-4439-9BCD-A498E905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PROBLEM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E7AEE57-D2F1-49CB-AE8B-8F1D8477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Builders still orchestrate the whole stack by hand.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5C438-989C-4C42-B156-1C9540F3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Context is copied, approvals are implicit, successful sequences disappear, and each tool keeps a separate operational vocabulary.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C1A4E-B01C-4DCE-A682-EC658A48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2018E-CA46-4B2A-A080-BC03ABDE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9E9A7-EE21-43DD-AC39-749DB4AD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16B31-9968-4C14-97BA-9B2EFE2A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B8CFC-7089-45B9-828F-B5B16473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84B"/>
                </a:solidFill>
              </a:defRPr>
            </a:pPr>
            <a:r>
              <a:rPr sz="1650" b="1">
                <a:solidFill>
                  <a:srgbClr val="D6A84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21F21-6752-4719-ADDE-023F8AEA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9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A5A1"/>
                </a:solidFill>
              </a:defRPr>
            </a:pPr>
            <a:r>
              <a:rPr sz="900" b="1">
                <a:solidFill>
                  <a:srgbClr val="9CA5A1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C4FC4-2499-400E-8647-64334FE2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Code, docs, credentials, and environment knowledge drift between tools.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E9059-3BDD-46A6-9044-8DD7320D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E8F6A-122D-41CA-92FC-9F25AF5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B7D9"/>
                </a:solidFill>
              </a:defRPr>
            </a:pPr>
            <a:r>
              <a:rPr sz="1650" b="1">
                <a:solidFill>
                  <a:srgbClr val="36B7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30266-7BA8-425C-B5B6-0AE0CB7B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A5A1"/>
                </a:solidFill>
              </a:defRPr>
            </a:pPr>
            <a:r>
              <a:rPr sz="900" b="1">
                <a:solidFill>
                  <a:srgbClr val="9CA5A1"/>
                </a:solidFill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FF483-1C8A-42DD-AE88-7F6F114C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Actions cross files, browsers, CLIs, engines, boards, and networks.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10096-FE5D-4A8E-9443-2E0AEC2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BABED-C909-4BB7-9659-DBF1F15A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6855"/>
                </a:solidFill>
              </a:defRPr>
            </a:pPr>
            <a:r>
              <a:rPr sz="1650" b="1">
                <a:solidFill>
                  <a:srgbClr val="E568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93DDD-0CD3-42D0-99DB-DFEF9FD8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A5A1"/>
                </a:solidFill>
              </a:defRPr>
            </a:pPr>
            <a:r>
              <a:rPr sz="900" b="1">
                <a:solidFill>
                  <a:srgbClr val="9CA5A1"/>
                </a:solidFill>
              </a:rPr>
              <a:t>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98709-8297-4C2F-A75E-7A4CDAFB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Teams need explicit approval, evidence, cancellation, and responsibility.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B633C-4881-43F1-937C-19765631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797B1-94A0-40A5-824D-7A7EF90B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A783"/>
                </a:solidFill>
              </a:defRPr>
            </a:pPr>
            <a:r>
              <a:rPr sz="1650" b="1">
                <a:solidFill>
                  <a:srgbClr val="42A783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09343-425A-4E0E-B735-410DE30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A5A1"/>
                </a:solidFill>
              </a:defRPr>
            </a:pPr>
            <a:r>
              <a:rPr sz="900" b="1">
                <a:solidFill>
                  <a:srgbClr val="9CA5A1"/>
                </a:solidFill>
              </a:rPr>
              <a:t>REUSE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722C1-009E-4BE5-8755-E9502D2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A successful run rarely becomes an editable operational asset.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D2E89-17DA-4D26-9129-AA16212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6635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1716E-1DF4-4AA5-8FCA-3DE23091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PRODUCT THESIS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355813F-47F3-4349-BBC5-4E135213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Command the whole workspace.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0C777-A958-4D67-B704-E100B9D4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Tlamatini is designed as the operating layer between human intent and a heterogeneous technical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40156-B655-4E0B-A4CD-E01E75DD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D9D96-0285-4C1C-8CDD-C17C2909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B4247-0AAA-4056-893A-0CE30DF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7CF96-A1B0-40DD-86E8-87E6DD09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788686f3a42b7"/>
          <a:srcRect xmlns:a="http://schemas.openxmlformats.org/drawingml/2006/main" l="5113" t="0" r="5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952625"/>
            <a:ext cx="622935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B4F88-849C-4D45-99E3-C08EA791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5806B-96B2-4BE1-AE68-98DFF285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392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Know the project with hybrid retrieval and source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EC3A-6AB9-45AF-9EED-6298ED08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E8B1D-E224-451A-AB5E-60FFE04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92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Act across enabled tools, agents, skills, MCPs, and external CLIs.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D3B11-C637-48C0-ABE5-CFB90B97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E9519-18DB-4822-B4EB-92519E3A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392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Preserve human approval, reports, and hard cancellation.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01C75-49CC-4080-8E48-0C38C6FF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3686C-03AE-4853-BFC3-B9418776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392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Turn successful Multi-Turn work into visible .flw workflows.</a:t>
            </a:r>
          </a:p>
        </p:txBody>
      </p:sp>
    </p:spTree>
    <p:extLst>
      <p:ext uri="{BB962C8B-B14F-4D97-AF65-F5344CB8AC3E}">
        <p14:creationId xmlns:p14="http://schemas.microsoft.com/office/powerpoint/2010/main" val="485029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B2B86-2CF0-4D56-AA2E-538CD063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OPERATING MODEL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E60426B-9288-4B05-BCC8-C15B92E4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Know. Act. Capture.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593EB-D151-417F-A3AA-6B6D81E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 product compounds when a successful bounded action becomes a reusable, inspectable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BD1DA-31B6-402B-AB39-59FDD57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A993C-29A5-4BEF-8A5A-A9563632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F7B42-646A-4FA3-9CC5-2376E7AD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659E2-FF9E-48F2-ACF2-36C78F83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6EBB6-A5B4-4B5F-8548-4BF1DBA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429000" cy="295275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85B49-EE3D-47D2-8194-06EDFA3B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A84B"/>
                </a:solidFill>
              </a:defRPr>
            </a:pPr>
            <a:r>
              <a:rPr sz="1800" b="1">
                <a:solidFill>
                  <a:srgbClr val="D6A84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EA603-8DA0-4CC7-874B-9A14231D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3EE"/>
                </a:solidFill>
              </a:defRPr>
            </a:pPr>
            <a:r>
              <a:rPr sz="1575" b="1">
                <a:solidFill>
                  <a:srgbClr val="F2F3EE"/>
                </a:solidFill>
              </a:rPr>
              <a:t>KNOW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1E196-8A8E-4DA1-B92F-1732EEAE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Project files, retrieval, source maps, selected folders, and self-knowledge.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28C2E-BC78-41C7-B5AD-0C61B392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38500"/>
            <a:ext cx="23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3738"/>
                </a:solidFill>
              </a:defRPr>
            </a:pPr>
            <a:r>
              <a:rPr sz="2250" b="1">
                <a:solidFill>
                  <a:srgbClr val="303738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27F93-1D98-418F-B485-7CF07F31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429000" cy="295275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171C1D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EE325-1336-47FC-8710-8C467DDB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B7D9"/>
                </a:solidFill>
              </a:defRPr>
            </a:pPr>
            <a:r>
              <a:rPr sz="1800" b="1">
                <a:solidFill>
                  <a:srgbClr val="36B7D9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AAF73-BA2A-48AB-9654-9AC428AD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3EE"/>
                </a:solidFill>
              </a:defRPr>
            </a:pPr>
            <a:r>
              <a:rPr sz="1575" b="1">
                <a:solidFill>
                  <a:srgbClr val="F2F3EE"/>
                </a:solidFill>
              </a:rPr>
              <a:t>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5EC7E-103D-4194-85BC-9FA809A4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718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Multi-Turn coordinates enabled tools with approvals and execution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28626-4186-4632-8642-B2AA1C6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38500"/>
            <a:ext cx="23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3738"/>
                </a:solidFill>
              </a:defRPr>
            </a:pPr>
            <a:r>
              <a:rPr sz="2250" b="1">
                <a:solidFill>
                  <a:srgbClr val="303738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271E5-5502-429B-9EA6-DF8F72AA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429000" cy="295275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4C3C4-A3AB-467D-B02F-0952B832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A783"/>
                </a:solidFill>
              </a:defRPr>
            </a:pPr>
            <a:r>
              <a:rPr sz="1800" b="1">
                <a:solidFill>
                  <a:srgbClr val="42A783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DA9F4-BD5B-49C6-94E0-0D25A0B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3EE"/>
                </a:solidFill>
              </a:defRPr>
            </a:pPr>
            <a:r>
              <a:rPr sz="1575" b="1">
                <a:solidFill>
                  <a:srgbClr val="F2F3EE"/>
                </a:solidFill>
              </a:rPr>
              <a:t>CAPTURE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5ECEE-AA38-49FF-AB44-76C106A6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718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 operator can preserve successful work as a .flw process for reuse.</a:t>
            </a:r>
          </a:p>
        </p:txBody>
      </p:sp>
    </p:spTree>
    <p:extLst>
      <p:ext uri="{BB962C8B-B14F-4D97-AF65-F5344CB8AC3E}">
        <p14:creationId xmlns:p14="http://schemas.microsoft.com/office/powerpoint/2010/main" val="1834748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81171-3CF4-48C2-9ECD-48D4C91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CURRENT PRODUCT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73940FD-E4E7-47D8-9530-B821A72D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The breadth is already real; the commercial wedge is the next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10A18-DAFF-43FC-885F-ECDBA787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Live source inventory from the v1.41.3 repository snapshot, 15 July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A567E-405B-46A1-B104-B8DF81E3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50A2B-DAB8-45B3-B538-5176E5A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65094-66D8-40C3-95C3-DDA9C769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84A65-8875-4AEF-AB2E-6146989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72693-0E91-4AFD-B0BA-74F5A6B0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DD511-76C5-4042-85AB-A702A06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84B"/>
                </a:solidFill>
              </a:defRPr>
            </a:pPr>
            <a:r>
              <a:rPr sz="2550" b="1">
                <a:solidFill>
                  <a:srgbClr val="D6A84B"/>
                </a:solidFill>
              </a:rPr>
              <a:t>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3C4CF-7F49-4524-9532-4D2AF54D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workflow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8F0F9-C4FF-4DB0-90D3-4A20189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B378F-B927-40A1-A566-BB067D0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B7D9"/>
                </a:solidFill>
              </a:defRPr>
            </a:pPr>
            <a:r>
              <a:rPr sz="2550" b="1">
                <a:solidFill>
                  <a:srgbClr val="36B7D9"/>
                </a:solidFill>
              </a:rPr>
              <a:t>94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89639-59C0-498C-B155-A7A18414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Multi-Turn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EA31F-67D5-4C67-A14B-1844B1D1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23DDC-0DE4-469D-8D26-B08D15D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A783"/>
                </a:solidFill>
              </a:defRPr>
            </a:pPr>
            <a:r>
              <a:rPr sz="2550" b="1">
                <a:solidFill>
                  <a:srgbClr val="42A783"/>
                </a:solidFill>
              </a:rPr>
              <a:t>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11772-0248-4B5E-8898-DA5C81E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inspectable skills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36C2C-171A-4FB3-84D9-0F30E9BF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90750"/>
            <a:ext cx="295275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038A2-3EA0-4328-A235-DD174978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B78D3"/>
                </a:solidFill>
              </a:defRPr>
            </a:pPr>
            <a:r>
              <a:rPr sz="2550" b="1">
                <a:solidFill>
                  <a:srgbClr val="8B78D3"/>
                </a:solidFill>
              </a:rPr>
              <a:t>176,259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92D7F-9A90-4FB8-B0F1-10273B49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051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effective authored lines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CB3FF-39A6-4775-9AE7-E52FE771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34290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18566-1688-4E3A-BB81-CBAAC6C9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F3426-D11F-4639-AA2B-8AD97597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Local-first 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1CC31-0ED2-4F43-8842-6297B0A4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3028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Django/Channels, SQLite, FAISS/BM25 retrieval, native project context, and MIT-licensed source.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938002-D4B7-4359-B5AC-541F52D7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34290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52B2F-6774-42E6-A36E-DDAA765F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75F1C4-0AD3-4436-BD5C-E5311C1B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86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Cross-surface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B242C-0E51-4A58-8735-7562DF43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3028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Files, desktop, browser, engines, embedded toolchains, voice, media, messaging, and MCP.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73192-D775-4DE6-BB2A-2D428FD6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37338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7B3A6F-F8C2-4BFC-86D6-4833C85B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47483E-80E5-491A-A89C-ADAB140A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86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Bounded operation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C0F1E-4CF5-4C69-B7F4-894C4ECA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Ask Execs, Step-by-Step, execution reports, cancellation, and explicit user jurisdiction.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1697D-EB12-45BB-8F77-B4C644A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27B77"/>
                </a:solidFill>
              </a:defRPr>
            </a:pPr>
            <a:r>
              <a:rPr sz="600" b="0">
                <a:solidFill>
                  <a:srgbClr val="727B77"/>
                </a:solidFill>
              </a:rPr>
              <a:t>Source: live Tlamatini generator collect_context(); git describe v1.41.3-1-gc7c3fa10-dirty.</a:t>
            </a:r>
          </a:p>
        </p:txBody>
      </p:sp>
    </p:spTree>
    <p:extLst>
      <p:ext uri="{BB962C8B-B14F-4D97-AF65-F5344CB8AC3E}">
        <p14:creationId xmlns:p14="http://schemas.microsoft.com/office/powerpoint/2010/main" val="1330852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5A3F5-A9FD-4C2E-A3BF-D2143B73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CROWN JEWELS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35C356A-DE09-4535-A76D-F3A0162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Tlamatini reaches where software touches the real world.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CE7D5-793A-4369-9811-493136CC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Four high-value surfaces make the category concrete.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DE620-73E6-492F-B428-AD12E1B9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B4A43-D111-48B6-825D-C629F7C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5043B-FBD8-4F3F-A600-8A2E7A5B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54478-D348-4B2B-8E49-5872AC3E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07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01e8f2ebe4742"/>
          <a:srcRect xmlns:a="http://schemas.openxmlformats.org/drawingml/2006/main" l="9886" t="0" r="98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95500"/>
            <a:ext cx="2552700" cy="1790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87A76-79F7-4616-A944-629E52C5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3EE"/>
                </a:solidFill>
              </a:defRPr>
            </a:pPr>
            <a:r>
              <a:rPr sz="1275" b="1">
                <a:solidFill>
                  <a:srgbClr val="F2F3EE"/>
                </a:solidFill>
              </a:rPr>
              <a:t>Unreal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DD0D8-4FFB-4039-81D9-2A0DC6D6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Direct control and one-prompt C++ project scaffolding.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fd01676594854"/>
          <a:srcRect xmlns:a="http://schemas.openxmlformats.org/drawingml/2006/main" l="9886" t="0" r="98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095500"/>
            <a:ext cx="2552700" cy="1790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09C0B-9B65-40CA-B0E2-9A18BC4F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3EE"/>
                </a:solidFill>
              </a:defRPr>
            </a:pPr>
            <a:r>
              <a:rPr sz="1275" b="1">
                <a:solidFill>
                  <a:srgbClr val="F2F3EE"/>
                </a:solidFill>
              </a:rPr>
              <a:t>Blender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8F377-F1DF-4DD0-895B-EC1F13AB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00550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Editable scenes, materials, screenshots, and renders.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e9c4d83b84e29"/>
          <a:srcRect xmlns:a="http://schemas.openxmlformats.org/drawingml/2006/main" l="9886" t="0" r="98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095500"/>
            <a:ext cx="2552700" cy="1790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4420C-7962-4C01-8ED7-7AD0A10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3EE"/>
                </a:solidFill>
              </a:defRPr>
            </a:pPr>
            <a:r>
              <a:rPr sz="1275" b="1">
                <a:solidFill>
                  <a:srgbClr val="F2F3EE"/>
                </a:solidFill>
              </a:rPr>
              <a:t>STM32er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6B5AA-EF13-45A2-9B20-437599F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Build, flash, observe, and preflight embedded work.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ae683b10942b5"/>
          <a:srcRect xmlns:a="http://schemas.openxmlformats.org/drawingml/2006/main" l="9886" t="0" r="98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2095500"/>
            <a:ext cx="2552700" cy="1790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A7995-2236-4F10-A7C7-A26630B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767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3EE"/>
                </a:solidFill>
              </a:defRPr>
            </a:pPr>
            <a:r>
              <a:rPr sz="1275" b="1">
                <a:solidFill>
                  <a:srgbClr val="F2F3EE"/>
                </a:solidFill>
              </a:rPr>
              <a:t>ESP32er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063CC-7FB9-4036-B119-413E9761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00550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PlatformIO firmware workflows tied to field evidence.</a:t>
            </a:r>
          </a:p>
        </p:txBody>
      </p:sp>
    </p:spTree>
    <p:extLst>
      <p:ext uri="{BB962C8B-B14F-4D97-AF65-F5344CB8AC3E}">
        <p14:creationId xmlns:p14="http://schemas.microsoft.com/office/powerpoint/2010/main" val="770699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CE47A-F4DD-4615-BF55-D9DB837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TRUST POSITION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EE389AE-8F7A-4BDB-BB35-56BEEB6B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Capability is not permission.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07C45-CAA2-4662-B5AE-15B5B700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Human command is a product principle and an explicit operating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1FAFB-9F95-4C7A-AE3A-5CC7DE9A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31574-A8E6-408C-95C8-0AD69EB7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E342A-C405-4CA8-8790-890DFBC6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DB3C0-8AD1-4C45-8D8B-BC1ECA7B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df6a982d4318"/>
          <a:srcRect xmlns:a="http://schemas.openxmlformats.org/drawingml/2006/main" l="9506" t="0" r="95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00250"/>
            <a:ext cx="561975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8ED83-D7AC-4BAB-9BD6-7FD28819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51054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1C58A-97D6-4C87-9690-3453BB03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039A3-E2CD-4BA6-BBFA-B5400145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INSPECT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D6F88-7364-4E25-A3C3-CDF4393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See the planned action, selected tool, and operating context before execution.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C8440-855F-42FA-992E-77BCCAB2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51054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A4A3F-D65B-46AE-8D56-FF7F9292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D428C-7DED-43A7-86ED-906F41DE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APPROVE OR DENY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2AA97-1CEB-4464-90D6-E0CFAD4F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Ask Execs can pause state-changing work; Step-by-Step can pace setup.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570A8-8B61-4611-B811-E02F9B13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51054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66729-75E4-4B97-86A1-B4609E19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00282-1824-4170-BBFA-E75ACDD1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CANCEL AND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499E8-32C5-4D81-8638-DE505B76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Hard cancellation and execution reporting preserve operator control and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E5FA3-FFBD-44A6-83FD-EA155812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A84B"/>
                </a:solidFill>
              </a:defRPr>
            </a:pPr>
            <a:r>
              <a:rPr sz="975" b="1">
                <a:solidFill>
                  <a:srgbClr val="D6A84B"/>
                </a:solidFill>
              </a:rPr>
              <a:t>Plain-Python agents remain under the user’s jurisdiction and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106062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8CD3C7-BE84-46CF-AE45-6259EBF0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BEACHHEAD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EDD8327-EA83-4C52-903E-C3A3E664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Start with teams where one person already carries the whole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0CA9F-3755-48CA-9AE0-89D838D0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Technical founders, embedded teams, robotics labs, and creative-technology studios feel the integration tax most acutely.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1D631-FC93-41D2-90BA-AD77BBFC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E254F-7482-43A3-850F-F7A8BB4F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32C47-ED5B-41B4-935C-DA7A324E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26FDC-09A4-4D73-97AD-58613E7E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4015D-0B60-4D46-8A07-5802808D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121C0-1B0B-4D1F-971A-5C002765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014C5-8CFD-4C7B-9C4B-2640C625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TECHNICAL FOUNDERS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25765-5559-4935-AAB3-8FBCABEB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Codebase + deployment + automation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Launch hypothesis: Fastest path to a complete bounded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2D731-643A-48CC-81B0-42BAB92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D8289-8DC9-4E23-B722-AE96A0F0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B4720-AEBC-4D0B-8B9A-EF32C9FE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EMBEDDED / ROBOTICS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1BF00-34BE-40AA-9E81-F613F025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Firmware + instruments + observed motion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Launch hypothesis: Distinctive proof beyond code-only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18D90-B338-43FC-85ED-3B7CC3E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3AFFF-1D0D-416E-9DEF-DD500CD6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FD1E0-5290-4FE1-9213-361730E6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CREATIVE TECHNOLOGY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1404B-A755-41A0-AEC3-B7330E20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Code + Unreal/Blender + assets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Launch hypothesis: Visible outputs and repeatable production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DD280-D33F-427D-B336-BB05C526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56855"/>
                </a:solidFill>
              </a:defRPr>
            </a:pPr>
            <a:r>
              <a:rPr sz="1125" b="1">
                <a:solidFill>
                  <a:srgbClr val="E56855"/>
                </a:solidFill>
              </a:rPr>
              <a:t>Commercial discipline: select the primary vertical after measured activation, retention, support burden, and paid conversion.</a:t>
            </a:r>
          </a:p>
        </p:txBody>
      </p:sp>
    </p:spTree>
    <p:extLst>
      <p:ext uri="{BB962C8B-B14F-4D97-AF65-F5344CB8AC3E}">
        <p14:creationId xmlns:p14="http://schemas.microsoft.com/office/powerpoint/2010/main" val="379984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E56C35-E7B4-4E1D-95C8-5E1820FF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OFFER DESIGN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0211846F-1AA6-45E9-BDC0-C3789299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Keep the MIT core open; sell implementation and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618D9-28D6-4C87-B63C-ADB0FE8E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Launch-now offers create revenue without pretending enterprise roadmap features already ship.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E425D-6265-455C-A834-9B231194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07096-AF23-4B2F-9FBB-420D603B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072B8-6BD2-4328-B290-402FB788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C3FF2-0408-4A63-BD37-AE3D5308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A5903-A810-4E3A-B973-1AFD40F2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1571625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7ED69-AB25-4452-8B23-FEAA0C23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81012-29EA-4F9E-914D-B08E36CF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Community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78B0A-504F-422D-8603-B7368AAC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MIT source and public releases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7A045-B783-43F0-AFE6-B6AF06B7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CA5A1"/>
                </a:solidFill>
              </a:defRPr>
            </a:pPr>
            <a:r>
              <a:rPr sz="675" b="1">
                <a:solidFill>
                  <a:srgbClr val="9CA5A1"/>
                </a:solidFill>
              </a:rPr>
              <a:t>CURRENT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B21D6-1D70-4B4F-B879-F0CBEFA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429000" cy="1571625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3A696-0B2E-4977-8E35-15D8FA2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D9142-A24C-4E66-88A6-C91AB47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Launch 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C13E8-CA2B-4EB9-8333-4AC66C29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Installation, model setup, workflow design, operator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DFEB8-35EB-4278-9DDA-B92BA1E5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CA5A1"/>
                </a:solidFill>
              </a:defRPr>
            </a:pPr>
            <a:r>
              <a:rPr sz="675" b="1">
                <a:solidFill>
                  <a:srgbClr val="9CA5A1"/>
                </a:solidFill>
              </a:rPr>
              <a:t>LAUNCH 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9F02A-30BB-4A15-BE9F-FA125DDB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429000" cy="1571625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035F4-8280-459F-832E-B763BD4B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CCACE-90D4-4C0C-85FA-F7C99543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Workflow Pack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34363-B88F-4D0B-BF60-657798E3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Customer-specific .flw design and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0D1FB-A2FA-4E3B-97A5-A897B0E9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669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CA5A1"/>
                </a:solidFill>
              </a:defRPr>
            </a:pPr>
            <a:r>
              <a:rPr sz="675" b="1">
                <a:solidFill>
                  <a:srgbClr val="9CA5A1"/>
                </a:solidFill>
              </a:rPr>
              <a:t>LAUNCH NOW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B8989-606F-428F-94EE-0D33AADB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429000" cy="1571625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1599A-3A3B-471D-941A-17053041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04F39-5627-4D56-AD71-C1F0732F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Integration Sprint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06468-819B-44FE-8D5B-05DC90F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Unreal, Blender, STM32, ESP32, ESPHome, or Arduino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BCAF7-E993-4573-879C-CD1DBAC7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76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CA5A1"/>
                </a:solidFill>
              </a:defRPr>
            </a:pPr>
            <a:r>
              <a:rPr sz="675" b="1">
                <a:solidFill>
                  <a:srgbClr val="9CA5A1"/>
                </a:solidFill>
              </a:rPr>
              <a:t>LAUNCH NOW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B4B13A-09FF-4D10-AD95-E8B1999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05250"/>
            <a:ext cx="3429000" cy="1571625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27AF9-930A-4D70-BD75-B88F0C5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0525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70BE98-CA79-4510-86E8-DB834806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Readiness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932777-D40E-4866-A7F6-DCFCF18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Configuration, permissions, connector scope, and recovery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91D8B7-FAFE-42F2-BA92-5D276324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CA5A1"/>
                </a:solidFill>
              </a:defRPr>
            </a:pPr>
            <a:r>
              <a:rPr sz="675" b="1">
                <a:solidFill>
                  <a:srgbClr val="9CA5A1"/>
                </a:solidFill>
              </a:rPr>
              <a:t>LAUNCH NOW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B4F536-D95F-454F-BAB7-B7C21D7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429000" cy="1571625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BBA7F-AA0C-4150-A69F-F7F069AF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8D3"/>
          </a:solidFill>
          <a:ln xmlns:a="http://schemas.openxmlformats.org/drawingml/2006/main" w="9525">
            <a:solidFill>
              <a:srgbClr val="8B78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5D0E0D-A989-4861-BCB8-7C374FA5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Enterprise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9F5FB9-ECEA-4A6F-8991-83E8E0F4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Signed channel, policy, fleet, identity, support SLAs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BB29A5-E9CC-4243-9D9B-9E2ED824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76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B78D3"/>
                </a:solidFill>
              </a:defRPr>
            </a:pPr>
            <a:r>
              <a:rPr sz="675" b="1">
                <a:solidFill>
                  <a:srgbClr val="8B78D3"/>
                </a:solidFill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2114336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AD263-94C9-4316-96C7-EF963EC4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GO TO MARKET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C87C1E2-0A9A-481A-AC99-FB1D4C1A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Lead with reproducible proof, then convert expertise into engagements.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ACD81-4594-40F5-BEB9-0C8E008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Every campaign claim should point to a demo, workflow file, build log, or bounded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DC019-5C01-490F-8CE4-49B356C3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A4F3B-6272-4DEE-93B7-2A1D7AED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87501-4902-402C-AF6A-F725B04A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B8ED7-CFBA-475A-9707-8703FFA5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ABD2A-3F9C-4829-B963-54D67522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4765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C0787-09AF-4903-A0E1-5502861E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B"/>
                </a:solidFill>
              </a:defRPr>
            </a:pPr>
            <a:r>
              <a:rPr sz="750" b="1">
                <a:solidFill>
                  <a:srgbClr val="D6A84B"/>
                </a:solidFill>
              </a:rPr>
              <a:t>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EAC7B-DD60-44F5-A41E-DBE3F38D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3EE"/>
                </a:solidFill>
              </a:defRPr>
            </a:pPr>
            <a:r>
              <a:rPr sz="1650" b="1">
                <a:solidFill>
                  <a:srgbClr val="F2F3EE"/>
                </a:solidFill>
              </a:rPr>
              <a:t>3 hero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77D25-868A-4244-BA9E-A8769C21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Unreal/Blender · robotics loop · project-to-workflow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F55D3-A238-4F1E-BCF8-43944495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4765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EED25-41ED-4D06-A8F4-6FDC50D5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43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6B7D9"/>
                </a:solidFill>
              </a:defRPr>
            </a:pPr>
            <a:r>
              <a:rPr sz="750" b="1">
                <a:solidFill>
                  <a:srgbClr val="36B7D9"/>
                </a:solidFill>
              </a:rPr>
              <a:t>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12902-629B-429D-8FA5-F991D1E9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3EE"/>
                </a:solidFill>
              </a:defRPr>
            </a:pPr>
            <a:r>
              <a:rPr sz="1650" b="1">
                <a:solidFill>
                  <a:srgbClr val="F2F3EE"/>
                </a:solidFill>
              </a:rPr>
              <a:t>10 partners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BB46C-67B1-44FF-9B22-1DD1B827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6712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Embedded · creative technology · small engineering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BBFE0-301D-470C-9A9A-AF618B2F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4765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A1113-B210-4C24-A66F-DBF58DF8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43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CONVERT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7D0AB-8BEA-4069-90A1-62EAFC7D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3EE"/>
                </a:solidFill>
              </a:defRPr>
            </a:pPr>
            <a:r>
              <a:rPr sz="1650" b="1">
                <a:solidFill>
                  <a:srgbClr val="F2F3EE"/>
                </a:solidFill>
              </a:rPr>
              <a:t>Paid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1296E-7BC5-458D-99BE-60C76D7B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Launch Lab · integration sprint · readiness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14082-B88B-49F7-A412-D2967984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4765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171C1D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176E9-D403-4314-AB07-D1413E4D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43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6855"/>
                </a:solidFill>
              </a:defRPr>
            </a:pPr>
            <a:r>
              <a:rPr sz="750" b="1">
                <a:solidFill>
                  <a:srgbClr val="E56855"/>
                </a:solidFill>
              </a:rPr>
              <a:t>FOCUS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15034-A8E8-45D6-9625-5334924D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3EE"/>
                </a:solidFill>
              </a:defRPr>
            </a:pPr>
            <a:r>
              <a:rPr sz="1650" b="1">
                <a:solidFill>
                  <a:srgbClr val="F2F3EE"/>
                </a:solidFill>
              </a:rPr>
              <a:t>1 vertical wedge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73BC6-452B-4CFD-A2E1-4850A56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712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Choose by retention, revenue, margin, and repeatability</a:t>
            </a:r>
          </a:p>
        </p:txBody>
      </p:sp>
    </p:spTree>
    <p:extLst>
      <p:ext uri="{BB962C8B-B14F-4D97-AF65-F5344CB8AC3E}">
        <p14:creationId xmlns:p14="http://schemas.microsoft.com/office/powerpoint/2010/main" val="10143743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85E42-276D-4742-85CB-327D5877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MARKET TAILWINDS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989A6904-8895-4113-B39D-B1E424C1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Exposure is broad; the winning systems will improve work without erasing agency.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8CA92-6AD4-4FC6-AA77-54E26E7A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External evidence supports the category need, not a claim of measured Tlamatini impact.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0B8A6-F98D-4A64-830F-29F4400B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4E1AB-7651-434A-9092-385D2229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60A8B-11D0-4705-9839-ED2121B1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D813F-15FC-4727-B043-6E483A19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D8FE7-B5DD-43E2-A801-D7162B17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E04D9-E914-40CD-B33B-73CD2DFF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84B"/>
                </a:solidFill>
              </a:defRPr>
            </a:pPr>
            <a:r>
              <a:rPr sz="2550" b="1">
                <a:solidFill>
                  <a:srgbClr val="D6A84B"/>
                </a:solidFill>
              </a:rPr>
              <a:t>1 in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6F908-407B-42D2-9F65-1E14A7A4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workers in occupations with some GenAI 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6E1D8-74B1-4D93-B536-4B6B123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10BC8-19C8-4E10-A751-AF309CBF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B7D9"/>
                </a:solidFill>
              </a:defRPr>
            </a:pPr>
            <a:r>
              <a:rPr sz="2550" b="1">
                <a:solidFill>
                  <a:srgbClr val="36B7D9"/>
                </a:solidFill>
              </a:rPr>
              <a:t>+14%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13731-8A60-4989-825D-98FB3074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average productivity in a customer-support field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D0895-EB60-4EE3-9907-42B45E37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ED62E-B58D-4410-8D1D-62E4357B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6855"/>
                </a:solidFill>
              </a:defRPr>
            </a:pPr>
            <a:r>
              <a:rPr sz="2550" b="1">
                <a:solidFill>
                  <a:srgbClr val="E56855"/>
                </a:solidFill>
              </a:rPr>
              <a:t>2.2B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F11B2-2E46-41FD-8DFE-167A761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people still offline in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76DA3-B852-4C08-9EBB-1046D722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90750"/>
            <a:ext cx="295275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E5BFB-7F14-41A4-A8A3-C923F946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B78D3"/>
                </a:solidFill>
              </a:defRPr>
            </a:pPr>
            <a:r>
              <a:rPr sz="2550" b="1">
                <a:solidFill>
                  <a:srgbClr val="8B78D3"/>
                </a:solidFill>
              </a:rPr>
              <a:t>~945 TWh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674CE-F1DD-49F1-96F7-6F1FACC6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051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projected data-centre electricity demand in 2030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34F20-4E57-4AF3-9D10-431C1C26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A783"/>
                </a:solidFill>
              </a:defRPr>
            </a:pPr>
            <a:r>
              <a:rPr sz="900" b="1">
                <a:solidFill>
                  <a:srgbClr val="42A783"/>
                </a:solidFill>
              </a:rPr>
              <a:t>Implication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B108D-74A9-4B1A-AEA3-B653FFBD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F3EE"/>
                </a:solidFill>
              </a:defRPr>
            </a:pPr>
            <a:r>
              <a:rPr sz="1725" b="1">
                <a:solidFill>
                  <a:srgbClr val="F2F3EE"/>
                </a:solidFill>
              </a:rPr>
              <a:t>Human-commanded, adaptable, local-first operating layers can capture productivity while making infrastructure, skills, and accountability visible.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862BA-B99B-4E34-80F2-71EB2C3F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27B77"/>
                </a:solidFill>
              </a:defRPr>
            </a:pPr>
            <a:r>
              <a:rPr sz="600" b="0">
                <a:solidFill>
                  <a:srgbClr val="727B77"/>
                </a:solidFill>
              </a:rPr>
              <a:t>Sources: ILO (2025); Brynjolfsson, Li &amp; Raymond, NBER w31161; ITU Facts and Figures 2025; IEA Energy and AI (2025).</a:t>
            </a:r>
          </a:p>
        </p:txBody>
      </p:sp>
    </p:spTree>
    <p:extLst>
      <p:ext uri="{BB962C8B-B14F-4D97-AF65-F5344CB8AC3E}">
        <p14:creationId xmlns:p14="http://schemas.microsoft.com/office/powerpoint/2010/main" val="15335811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C6296-B34A-40C4-B1D9-61FB8C31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COMPETITIVE POSITION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DB6C0811-90E6-45FB-9EDB-475F2EF8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Tlamatini occupies the bridge between code depth and real-world surface breadth.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72C49-B66A-4CD1-A099-FA5FF58A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Positioning is a strategic hypothesis; it is not a benchmark or market-share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43CD8-33A0-4B84-AF1B-534E179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02424-DF22-4318-AB52-FA4F56D7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3A63B-BD6C-4E2E-8514-54F3CFD5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3939A-B4D0-4D60-968D-218167B4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A609C-D2D4-4F0D-8BC3-BE33E5D7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340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77452-5858-4A79-AF98-45D65207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33625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43C4B-8B2A-4947-982C-8B78A6D6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NARROW 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373CD-27CF-4159-A8A4-B7075F60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29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BROAD 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28590-E5D5-4012-B08D-7575378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HIGH PROJECT DEPTH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12245-3414-44D8-B098-B827BD4F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LOW PROJECT DEPTH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1F418-8B71-4EAB-9811-7B9A9CC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29AE4-61A3-4E76-8682-65F9F4D4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6B7D9"/>
                </a:solidFill>
              </a:defRPr>
            </a:pPr>
            <a:r>
              <a:rPr sz="975" b="0">
                <a:solidFill>
                  <a:srgbClr val="36B7D9"/>
                </a:solidFill>
              </a:rPr>
              <a:t>Coding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BD614-0D52-4D3A-97AC-0545A85C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2B72E-A3B4-4C43-93CD-6F13F146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62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2A783"/>
                </a:solidFill>
              </a:defRPr>
            </a:pPr>
            <a:r>
              <a:rPr sz="975" b="0">
                <a:solidFill>
                  <a:srgbClr val="42A783"/>
                </a:solidFill>
              </a:rPr>
              <a:t>Automation platforms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EE35B-7A5C-4DC4-951D-D1A57510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8B78D3"/>
          </a:solidFill>
          <a:ln xmlns:a="http://schemas.openxmlformats.org/drawingml/2006/main" w="9525">
            <a:solidFill>
              <a:srgbClr val="8B78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35514-CA00-4903-B34B-C7CF12FF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78D3"/>
                </a:solidFill>
              </a:defRPr>
            </a:pPr>
            <a:r>
              <a:rPr sz="975" b="0">
                <a:solidFill>
                  <a:srgbClr val="8B78D3"/>
                </a:solidFill>
              </a:rPr>
              <a:t>Agent frameworks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54E49-7DDB-4D12-A479-D0AC84A8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1AAB0-F658-4D9D-8752-12336CCB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95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A84B"/>
                </a:solidFill>
              </a:defRPr>
            </a:pPr>
            <a:r>
              <a:rPr sz="975" b="1">
                <a:solidFill>
                  <a:srgbClr val="D6A84B"/>
                </a:solidFill>
              </a:rPr>
              <a:t>Tlamatini</a:t>
            </a:r>
          </a:p>
        </p:txBody>
      </p:sp>
    </p:spTree>
    <p:extLst>
      <p:ext uri="{BB962C8B-B14F-4D97-AF65-F5344CB8AC3E}">
        <p14:creationId xmlns:p14="http://schemas.microsoft.com/office/powerpoint/2010/main" val="1607067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F9A75-CCCB-462F-8485-5633378D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DEFENSIBILITY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0BC9DBF9-25CC-4162-8617-1DC65095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The moat must become accumulated operational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1A2E1-D268-416B-BE02-DD040A63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Breadth alone is replicable; trusted workflows, validated integrations, and retained operators compound.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7B6B5-8C75-43F3-8535-E8FF87B3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084A7-03CE-4E53-B988-98213599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7A8B1-0449-44EF-A3FD-66A4EEEF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06D18-0917-4042-A73C-0767A065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46131-037E-4D91-8F61-8AC9FE0B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28637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4B96E-278B-4899-8E93-6A3AFD53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375B5-2F6D-4E00-B603-63A0BF2E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88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Integration depth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FC46A-1CFA-4611-8A3D-6288D534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886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Direct engine and hardware paths create hard-earned implementation knowledge.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03213-3A0F-4F18-8BC8-60B9BF3A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95500"/>
            <a:ext cx="528637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BB3B6-B3AB-4AD2-BA38-786D813C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95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F253F-CEBA-4F6B-A9A5-A38B33CD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66950"/>
            <a:ext cx="488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Inspectable operating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00129-8C22-444B-B675-F702C8D2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47950"/>
            <a:ext cx="4886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Readable agents, explicit user jurisdiction, and local-first context support trust.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73C48-E6ED-49F5-B7E1-BC4C6E9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28637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B8161-5816-495A-ACFB-5774E87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DC4B6-24BF-48BC-BCB4-E4429F45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88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Workflow capture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D8E47-F934-4B3F-8231-C8E052E9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886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Reusable .flw assets can encode customer-specific processes and operating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484B3-8670-4135-8C81-A820F7E1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0"/>
            <a:ext cx="528637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FD821-8D19-4644-B4E1-95A073C7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B40C0-18D7-4290-BD8F-A89AE4E1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81450"/>
            <a:ext cx="488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Proof network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B4C9C-A1CA-4369-9800-F6D9F990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62450"/>
            <a:ext cx="4886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Demos, case studies, validated packs, and partner expertise become the real distribution advantage.</a:t>
            </a:r>
          </a:p>
        </p:txBody>
      </p:sp>
    </p:spTree>
    <p:extLst>
      <p:ext uri="{BB962C8B-B14F-4D97-AF65-F5344CB8AC3E}">
        <p14:creationId xmlns:p14="http://schemas.microsoft.com/office/powerpoint/2010/main" val="1726733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4AA8C7-8017-44D2-9D7D-DFAD4FCC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ILLUSTRATIVE CAPITAL PLAN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A4E63AD0-ABE3-4169-A037-5C037D9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$1.5M can fund 18 months of commercial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83520-7159-49B3-B33D-0A742FFA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Assumption for investor discussion, not a current financing commitment or forecast.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7B865-197A-47A4-B8AB-897D6983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BECE9-9179-4263-B426-BE40F675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59D3D-B00D-4322-954F-1605E1D3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E3039-2C5A-4259-9AC6-B2A9F6DD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CB900-C19E-402D-9449-B1E4E56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B7D9"/>
                </a:solidFill>
              </a:defRPr>
            </a:pPr>
            <a:r>
              <a:rPr sz="1500" b="1">
                <a:solidFill>
                  <a:srgbClr val="36B7D9"/>
                </a:solidFill>
              </a:rPr>
              <a:t>45%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AC7E9-40FC-4115-A3DA-1F40F8EE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51435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CE441-D10F-4C5A-8997-F6E6EF2F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3EE"/>
                </a:solidFill>
              </a:defRPr>
            </a:pPr>
            <a:r>
              <a:rPr sz="1125" b="0">
                <a:solidFill>
                  <a:srgbClr val="F2F3EE"/>
                </a:solidFill>
              </a:rPr>
              <a:t>Product + reliability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CDC18-E141-4AA6-937B-C39DEA3A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A783"/>
                </a:solidFill>
              </a:defRPr>
            </a:pPr>
            <a:r>
              <a:rPr sz="1500" b="1">
                <a:solidFill>
                  <a:srgbClr val="42A783"/>
                </a:solidFill>
              </a:rPr>
              <a:t>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443D6-E1F2-4420-9904-9A67799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00350"/>
            <a:ext cx="28575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21870-754F-49AD-832F-11E67867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3EE"/>
                </a:solidFill>
              </a:defRPr>
            </a:pPr>
            <a:r>
              <a:rPr sz="1125" b="0">
                <a:solidFill>
                  <a:srgbClr val="F2F3EE"/>
                </a:solidFill>
              </a:rPr>
              <a:t>Design-partner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ECA8D-03EB-4A57-9D87-6CD8AF69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6855"/>
                </a:solidFill>
              </a:defRPr>
            </a:pPr>
            <a:r>
              <a:rPr sz="1500" b="1">
                <a:solidFill>
                  <a:srgbClr val="E56855"/>
                </a:solidFill>
              </a:rPr>
              <a:t>15%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12EAB-81D1-46CF-ADC7-53A901A5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17145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70EF5-4503-483F-B6DE-7BBA70CB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623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3EE"/>
                </a:solidFill>
              </a:defRPr>
            </a:pPr>
            <a:r>
              <a:rPr sz="1125" b="0">
                <a:solidFill>
                  <a:srgbClr val="F2F3EE"/>
                </a:solidFill>
              </a:rPr>
              <a:t>Security + release 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DEDCE-AC0D-4ED2-96E6-4BB00040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A84B"/>
                </a:solidFill>
              </a:defRPr>
            </a:pPr>
            <a:r>
              <a:rPr sz="1500" b="1">
                <a:solidFill>
                  <a:srgbClr val="D6A84B"/>
                </a:solidFill>
              </a:rPr>
              <a:t>10%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9B5FC-327C-4DAF-B48C-DC18387B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9550"/>
            <a:ext cx="1143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3BBD9-BEFA-497E-8F48-D9669DF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719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3EE"/>
                </a:solidFill>
              </a:defRPr>
            </a:pPr>
            <a:r>
              <a:rPr sz="1125" b="0">
                <a:solidFill>
                  <a:srgbClr val="F2F3EE"/>
                </a:solidFill>
              </a:rPr>
              <a:t>Developer marketing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397B1-3DBB-4DF8-AE07-0C24870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78D3"/>
                </a:solidFill>
              </a:defRPr>
            </a:pPr>
            <a:r>
              <a:rPr sz="1500" b="1">
                <a:solidFill>
                  <a:srgbClr val="8B78D3"/>
                </a:solidFill>
              </a:rPr>
              <a:t>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6DFA8-A206-4616-A26D-94647123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5715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8B78D3"/>
          </a:solidFill>
          <a:ln xmlns:a="http://schemas.openxmlformats.org/drawingml/2006/main" w="9525">
            <a:solidFill>
              <a:srgbClr val="8B78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42537-FE6E-4DF8-8322-700330D2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815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F3EE"/>
                </a:solidFill>
              </a:defRPr>
            </a:pPr>
            <a:r>
              <a:rPr sz="1125" b="0">
                <a:solidFill>
                  <a:srgbClr val="F2F3EE"/>
                </a:solidFill>
              </a:rPr>
              <a:t>Operations + legal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85595-3D4E-42E4-95E2-392635B2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11252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71C1D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DCEA0-FA1D-43AF-9788-5B811AE0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F3EE"/>
                </a:solidFill>
              </a:defRPr>
            </a:pPr>
            <a:r>
              <a:rPr sz="1125" b="1">
                <a:solidFill>
                  <a:srgbClr val="F2F3EE"/>
                </a:solidFill>
              </a:rPr>
              <a:t>Milestone: 10 activated design partners, paid service conversion, one retained vertical wedge, and measured workflow reuse.</a:t>
            </a:r>
          </a:p>
        </p:txBody>
      </p:sp>
    </p:spTree>
    <p:extLst>
      <p:ext uri="{BB962C8B-B14F-4D97-AF65-F5344CB8AC3E}">
        <p14:creationId xmlns:p14="http://schemas.microsoft.com/office/powerpoint/2010/main" val="8001529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c137e8ba44116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B3BB8-76C8-4A4B-B417-CF28AF6B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BCE76-C59D-4C18-8661-B1AA7F16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B"/>
                </a:solidFill>
              </a:defRPr>
            </a:pPr>
            <a:r>
              <a:rPr sz="750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C36E8-658A-4437-9688-D66BDE86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F3EE"/>
                </a:solidFill>
              </a:defRPr>
            </a:pPr>
            <a:r>
              <a:rPr sz="3450" b="1">
                <a:solidFill>
                  <a:srgbClr val="F2F3EE"/>
                </a:solidFill>
              </a:rPr>
              <a:t>Invest in the proof, not the promise.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3A7DA-94D1-4E47-B1D2-35D07CD8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D2CE"/>
                </a:solidFill>
              </a:defRPr>
            </a:pPr>
            <a:r>
              <a:rPr sz="1425" b="0">
                <a:solidFill>
                  <a:srgbClr val="CDD2CE"/>
                </a:solidFill>
              </a:rPr>
              <a:t>Tlamatini already demonstrates the breadth. The company-building task is to turn that breadth into a narrow, repeatable, trusted commercial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F7721-F48A-4879-9BAE-4E7757C6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A783"/>
                </a:solidFill>
              </a:defRPr>
            </a:pPr>
            <a:r>
              <a:rPr sz="1650" b="1">
                <a:solidFill>
                  <a:srgbClr val="42A783"/>
                </a:solidFill>
              </a:rPr>
              <a:t>Build the human-commanded operations layer with 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18398-FF36-403F-80F9-21165D69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E7407-C5FE-4206-9E9F-87609E64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D8266-AAD8-49BE-81A2-45D33100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INVESTOR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A8BBB-8331-4E6B-AD8B-3554815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88982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2026-07-15T20:21:41.5220000Z</dcterms:created>
  <dcterms:modified xsi:type="dcterms:W3CDTF">2026-07-15T20:21:41.5220000Z</dcterms:modified>
</coreProperties>
</file>